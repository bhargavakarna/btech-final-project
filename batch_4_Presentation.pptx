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256" r:id="rId2"/>
    <p:sldId id="257" r:id="rId3"/>
    <p:sldId id="258" r:id="rId4"/>
    <p:sldId id="270" r:id="rId5"/>
    <p:sldId id="271" r:id="rId6"/>
    <p:sldId id="272" r:id="rId7"/>
    <p:sldId id="282" r:id="rId8"/>
    <p:sldId id="274" r:id="rId9"/>
    <p:sldId id="279" r:id="rId10"/>
    <p:sldId id="273" r:id="rId11"/>
    <p:sldId id="275" r:id="rId12"/>
    <p:sldId id="281" r:id="rId13"/>
    <p:sldId id="276" r:id="rId14"/>
    <p:sldId id="280" r:id="rId15"/>
    <p:sldId id="277" r:id="rId16"/>
    <p:sldId id="283" r:id="rId17"/>
    <p:sldId id="284" r:id="rId18"/>
    <p:sldId id="278" r:id="rId19"/>
    <p:sldId id="262" r:id="rId20"/>
    <p:sldId id="263" r:id="rId21"/>
    <p:sldId id="267" r:id="rId22"/>
    <p:sldId id="264" r:id="rId23"/>
    <p:sldId id="265" r:id="rId24"/>
    <p:sldId id="26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94660"/>
  </p:normalViewPr>
  <p:slideViewPr>
    <p:cSldViewPr snapToGrid="0">
      <p:cViewPr>
        <p:scale>
          <a:sx n="50" d="100"/>
          <a:sy n="50" d="100"/>
        </p:scale>
        <p:origin x="1596" y="4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C6A22-F8EA-422F-B1C6-DAF6E2F5A9EE}" type="datetimeFigureOut">
              <a:rPr lang="en-IN" smtClean="0"/>
              <a:pPr/>
              <a:t>17-04-2025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D51B-9E70-43A1-BF1A-7793C80C174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5963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D51B-9E70-43A1-BF1A-7793C80C174E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2452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D51B-9E70-43A1-BF1A-7793C80C174E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6836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D51B-9E70-43A1-BF1A-7793C80C174E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1528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989A-8AEA-4183-B01A-3E606333173D}" type="datetime1">
              <a:rPr lang="en-IN" smtClean="0"/>
              <a:pPr/>
              <a:t>17-04-2025</a:t>
            </a:fld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title of the project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8606-10CC-4876-811F-5AF59FAFB594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16202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BB41-75E7-43DC-875E-58362584A46A}" type="datetime1">
              <a:rPr lang="en-IN" smtClean="0"/>
              <a:pPr/>
              <a:t>17-04-2025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title of the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8606-10CC-4876-811F-5AF59FAFB59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89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B905-BDFE-43A9-9B39-674EF253AFA2}" type="datetime1">
              <a:rPr lang="en-IN" smtClean="0"/>
              <a:pPr/>
              <a:t>17-04-2025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title of the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8606-10CC-4876-811F-5AF59FAFB594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79004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2A0EF-40D0-46FF-921B-643BDD0DAD1E}" type="datetime1">
              <a:rPr lang="en-IN" smtClean="0"/>
              <a:pPr/>
              <a:t>17-04-2025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title of the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8606-10CC-4876-811F-5AF59FAFB59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3781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21606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21606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DDA37-C85B-4E06-B1AA-7F077924EB16}" type="datetime1">
              <a:rPr lang="en-IN" smtClean="0"/>
              <a:pPr/>
              <a:t>17-04-2025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title of the project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8606-10CC-4876-811F-5AF59FAFB59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949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1FA9-9802-46A7-88E5-3382291AFD68}" type="datetime1">
              <a:rPr lang="en-IN" smtClean="0"/>
              <a:pPr/>
              <a:t>17-04-2025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title of the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8606-10CC-4876-811F-5AF59FAFB59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2774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2774-A97A-4DF0-BC84-1183BE7EF482}" type="datetime1">
              <a:rPr lang="en-IN" smtClean="0"/>
              <a:pPr/>
              <a:t>17-04-2025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title of the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8606-10CC-4876-811F-5AF59FAFB59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86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3D07-4860-4BD9-9409-D3CE0993496F}" type="datetime1">
              <a:rPr lang="en-IN" smtClean="0"/>
              <a:pPr/>
              <a:t>17-04-2025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title of the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8606-10CC-4876-811F-5AF59FAFB59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033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F15DB-9CE5-4DEE-A107-3DF6FC66F9E8}" type="datetime1">
              <a:rPr lang="en-IN" smtClean="0"/>
              <a:pPr/>
              <a:t>17-04-2025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title of the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8606-10CC-4876-811F-5AF59FAFB59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12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22532-1E29-4DA2-BC42-54098843A28B}" type="datetime1">
              <a:rPr lang="en-IN" smtClean="0"/>
              <a:pPr/>
              <a:t>17-04-2025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title of the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8606-10CC-4876-811F-5AF59FAFB59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4453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EF065-09BE-4E9E-A518-778116831D4D}" type="datetime1">
              <a:rPr lang="en-IN" smtClean="0"/>
              <a:pPr/>
              <a:t>17-04-2025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title of the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98606-10CC-4876-811F-5AF59FAFB59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668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1428929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3936D3A3-34B3-40F7-9038-4162103F8008}" type="datetime1">
              <a:rPr lang="en-IN" smtClean="0"/>
              <a:pPr/>
              <a:t>17-04-2025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IN" dirty="0"/>
              <a:t>title of the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99A98606-10CC-4876-811F-5AF59FAFB59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623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3D91B-17A9-0B09-0D3E-1FBCB5D4E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9791" y="71577"/>
            <a:ext cx="9418320" cy="98552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 smtClean="0">
                <a:solidFill>
                  <a:srgbClr val="002060"/>
                </a:solidFill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Touchless Mouse Control via Hand Gestures Using </a:t>
            </a:r>
            <a:r>
              <a:rPr lang="en-US" sz="2400" b="1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Residual Neural Network </a:t>
            </a:r>
            <a:r>
              <a:rPr lang="en-US" sz="2400" b="1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and MediaPipe</a:t>
            </a:r>
            <a:endParaRPr lang="en-IN" sz="2400" b="1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0DA4C9-D60D-3438-A60D-D0950EABD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19856" y="1172630"/>
            <a:ext cx="5352288" cy="585597"/>
          </a:xfrm>
        </p:spPr>
        <p:txBody>
          <a:bodyPr>
            <a:normAutofit/>
          </a:bodyPr>
          <a:lstStyle/>
          <a:p>
            <a:pPr algn="ctr"/>
            <a:r>
              <a:rPr lang="en-US" sz="2000" dirty="0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</a:rPr>
              <a:t>Batch </a:t>
            </a:r>
            <a:r>
              <a:rPr lang="en-US" sz="2000" dirty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</a:rPr>
              <a:t>No </a:t>
            </a:r>
            <a:r>
              <a:rPr lang="en-US" sz="2000" dirty="0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</a:rPr>
              <a:t>: 04</a:t>
            </a:r>
            <a:endParaRPr lang="en-US" sz="2000" dirty="0">
              <a:solidFill>
                <a:schemeClr val="tx2">
                  <a:lumMod val="25000"/>
                </a:schemeClr>
              </a:solidFill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61F9E52-98AE-FFEC-0C65-CC384DAEAD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2" t="4386" r="88726" b="11261"/>
          <a:stretch/>
        </p:blipFill>
        <p:spPr bwMode="auto">
          <a:xfrm>
            <a:off x="702643" y="5480798"/>
            <a:ext cx="1040973" cy="126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5FBCB8-0FB8-B4D0-FBB7-DC354B374E19}"/>
              </a:ext>
            </a:extLst>
          </p:cNvPr>
          <p:cNvSpPr txBox="1"/>
          <p:nvPr/>
        </p:nvSpPr>
        <p:spPr>
          <a:xfrm>
            <a:off x="837398" y="5480798"/>
            <a:ext cx="10684042" cy="10464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800" b="1" dirty="0" smtClean="0">
                <a:solidFill>
                  <a:schemeClr val="bg2">
                    <a:lumMod val="50000"/>
                  </a:schemeClr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LAKIREDDY </a:t>
            </a:r>
            <a:r>
              <a:rPr lang="en-US" sz="1800" b="1" dirty="0">
                <a:solidFill>
                  <a:schemeClr val="bg2">
                    <a:lumMod val="50000"/>
                  </a:schemeClr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BALI REDDY COLLEGE OF </a:t>
            </a:r>
            <a:r>
              <a:rPr lang="en-US" sz="1800" b="1" dirty="0" smtClean="0">
                <a:solidFill>
                  <a:schemeClr val="bg2">
                    <a:lumMod val="50000"/>
                  </a:schemeClr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(AUTONOMOUS</a:t>
            </a:r>
            <a:r>
              <a:rPr lang="en-US" sz="1600" b="1" dirty="0" smtClean="0">
                <a:solidFill>
                  <a:schemeClr val="bg2">
                    <a:lumMod val="50000"/>
                  </a:schemeClr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1600" dirty="0">
              <a:solidFill>
                <a:schemeClr val="bg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/>
            <a:r>
              <a:rPr lang="en-US" sz="1400" dirty="0" err="1" smtClean="0">
                <a:solidFill>
                  <a:schemeClr val="bg2">
                    <a:lumMod val="50000"/>
                  </a:schemeClr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L.B.Reddy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Nagar :: Mylavaram – 521 230 :: NTR Dist.:: A.P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US" sz="1400" b="1" dirty="0" smtClean="0">
                <a:solidFill>
                  <a:schemeClr val="tx2">
                    <a:lumMod val="25000"/>
                  </a:schemeClr>
                </a:solidFill>
                <a:highlight>
                  <a:srgbClr val="C0C0C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</a:t>
            </a:r>
            <a:r>
              <a:rPr lang="en-US" sz="1400" b="1" dirty="0">
                <a:solidFill>
                  <a:schemeClr val="tx2">
                    <a:lumMod val="25000"/>
                  </a:schemeClr>
                </a:solidFill>
                <a:highlight>
                  <a:srgbClr val="C0C0C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CSE(ARTIFICIAL INTELLIGENCE AND MACHINE LEARNING</a:t>
            </a:r>
            <a:r>
              <a:rPr lang="en-US" sz="1400" b="1" dirty="0" smtClean="0">
                <a:solidFill>
                  <a:schemeClr val="tx2">
                    <a:lumMod val="25000"/>
                  </a:schemeClr>
                </a:solidFill>
                <a:highlight>
                  <a:srgbClr val="C0C0C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400" b="1" dirty="0">
              <a:solidFill>
                <a:schemeClr val="bg2">
                  <a:lumMod val="50000"/>
                </a:schemeClr>
              </a:solidFill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D50B52-E080-FC43-9621-344C298A8235}"/>
              </a:ext>
            </a:extLst>
          </p:cNvPr>
          <p:cNvCxnSpPr/>
          <p:nvPr/>
        </p:nvCxnSpPr>
        <p:spPr>
          <a:xfrm>
            <a:off x="453667" y="5387339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>
            <a:extLst>
              <a:ext uri="{FF2B5EF4-FFF2-40B4-BE49-F238E27FC236}">
                <a16:creationId xmlns:a16="http://schemas.microsoft.com/office/drawing/2014/main" id="{A3F45098-6EF9-8416-076D-3C48F7283726}"/>
              </a:ext>
            </a:extLst>
          </p:cNvPr>
          <p:cNvSpPr txBox="1">
            <a:spLocks/>
          </p:cNvSpPr>
          <p:nvPr/>
        </p:nvSpPr>
        <p:spPr>
          <a:xfrm>
            <a:off x="3419856" y="1730653"/>
            <a:ext cx="5352288" cy="614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3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Cambria" pitchFamily="18" charset="0"/>
                <a:ea typeface="Cambria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endParaRPr lang="en-US" sz="2000" dirty="0">
              <a:solidFill>
                <a:schemeClr val="tx2">
                  <a:lumMod val="25000"/>
                </a:schemeClr>
              </a:solidFill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A4D3F5-5CD9-8F47-6342-1D105619F657}"/>
              </a:ext>
            </a:extLst>
          </p:cNvPr>
          <p:cNvSpPr txBox="1"/>
          <p:nvPr/>
        </p:nvSpPr>
        <p:spPr>
          <a:xfrm>
            <a:off x="3829919" y="2150369"/>
            <a:ext cx="4699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2000" dirty="0" err="1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Digumarthi</a:t>
            </a:r>
            <a:r>
              <a:rPr lang="en-US" sz="2000" dirty="0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Srilikhitha</a:t>
            </a:r>
            <a:r>
              <a:rPr lang="en-US" sz="2000" dirty="0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  : 21761A4218</a:t>
            </a:r>
            <a:endParaRPr lang="en-US" sz="2000" dirty="0">
              <a:solidFill>
                <a:schemeClr val="tx2">
                  <a:lumMod val="25000"/>
                </a:schemeClr>
              </a:solidFill>
              <a:latin typeface="Cambria" pitchFamily="18" charset="0"/>
              <a:ea typeface="Cambria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sz="2000" dirty="0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Karna </a:t>
            </a:r>
            <a:r>
              <a:rPr lang="en-US" sz="2000" dirty="0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Bhargava  </a:t>
            </a:r>
            <a:r>
              <a:rPr lang="en-US" sz="2000" dirty="0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              :  21761A4228</a:t>
            </a:r>
            <a:endParaRPr lang="en-US" sz="2000" dirty="0">
              <a:solidFill>
                <a:schemeClr val="tx2">
                  <a:lumMod val="25000"/>
                </a:schemeClr>
              </a:solidFill>
              <a:latin typeface="Cambria" pitchFamily="18" charset="0"/>
              <a:ea typeface="Cambria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sz="2000" dirty="0" err="1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Mettu</a:t>
            </a:r>
            <a:r>
              <a:rPr lang="en-US" sz="2000" dirty="0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Bharath Kumar </a:t>
            </a:r>
            <a:r>
              <a:rPr lang="en-US" sz="2000" dirty="0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   : </a:t>
            </a:r>
            <a:r>
              <a:rPr lang="en-US" sz="2000" dirty="0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21761A4238</a:t>
            </a:r>
            <a:endParaRPr lang="en-US" sz="2000" dirty="0">
              <a:solidFill>
                <a:schemeClr val="tx2">
                  <a:lumMod val="25000"/>
                </a:schemeClr>
              </a:solidFill>
              <a:latin typeface="Cambria" pitchFamily="18" charset="0"/>
              <a:ea typeface="Cambria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sz="2000" dirty="0" err="1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Basa</a:t>
            </a:r>
            <a:r>
              <a:rPr lang="en-US" sz="2000" dirty="0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Bhavana</a:t>
            </a:r>
            <a:r>
              <a:rPr lang="en-US" sz="2000" dirty="0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 Devi      </a:t>
            </a:r>
            <a:r>
              <a:rPr lang="en-US" sz="2000" dirty="0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    :  </a:t>
            </a:r>
            <a:r>
              <a:rPr lang="en-US" sz="2000" dirty="0" smtClean="0">
                <a:solidFill>
                  <a:schemeClr val="tx2">
                    <a:lumMod val="2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22765A4201</a:t>
            </a:r>
            <a:endParaRPr lang="en-US" sz="2000" dirty="0">
              <a:solidFill>
                <a:schemeClr val="tx2">
                  <a:lumMod val="25000"/>
                </a:schemeClr>
              </a:solidFill>
              <a:latin typeface="Cambria" pitchFamily="18" charset="0"/>
              <a:ea typeface="Cambria" pitchFamily="18" charset="0"/>
              <a:cs typeface="Times New Roman" pitchFamily="18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ED177D8-CB40-44C4-9624-9051A1EB0E97}"/>
              </a:ext>
            </a:extLst>
          </p:cNvPr>
          <p:cNvSpPr txBox="1">
            <a:spLocks/>
          </p:cNvSpPr>
          <p:nvPr/>
        </p:nvSpPr>
        <p:spPr>
          <a:xfrm>
            <a:off x="3118442" y="4182819"/>
            <a:ext cx="5784926" cy="11328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3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50"/>
              </a:spcBef>
              <a:spcAft>
                <a:spcPts val="50"/>
              </a:spcAft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  <a:latin typeface="Cambria" pitchFamily="18" charset="0"/>
                <a:ea typeface="Cambria" pitchFamily="18" charset="0"/>
                <a:cs typeface="Times New Roman" panose="02020603050405020304" pitchFamily="18" charset="0"/>
              </a:rPr>
              <a:t>Under Guidance of </a:t>
            </a:r>
            <a:r>
              <a:rPr lang="en-US" sz="1800" b="1" dirty="0" smtClean="0">
                <a:solidFill>
                  <a:schemeClr val="accent3">
                    <a:lumMod val="50000"/>
                  </a:schemeClr>
                </a:solidFill>
                <a:latin typeface="Cambria" pitchFamily="18" charset="0"/>
                <a:ea typeface="Cambria" pitchFamily="18" charset="0"/>
                <a:cs typeface="Times New Roman" panose="02020603050405020304" pitchFamily="18" charset="0"/>
              </a:rPr>
              <a:t>:</a:t>
            </a:r>
          </a:p>
          <a:p>
            <a:pPr algn="ctr">
              <a:lnSpc>
                <a:spcPct val="100000"/>
              </a:lnSpc>
              <a:spcBef>
                <a:spcPts val="50"/>
              </a:spcBef>
              <a:spcAft>
                <a:spcPts val="50"/>
              </a:spcAft>
            </a:pPr>
            <a:endParaRPr lang="en-US" sz="800" b="1" dirty="0" smtClean="0">
              <a:solidFill>
                <a:schemeClr val="accent3">
                  <a:lumMod val="50000"/>
                </a:schemeClr>
              </a:solidFill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  <a:spcAft>
                <a:spcPts val="50"/>
              </a:spcAft>
            </a:pPr>
            <a:r>
              <a:rPr lang="en-US" sz="1800" i="1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scadia Code" panose="020B0609020000020004" pitchFamily="49" charset="0"/>
              </a:rPr>
              <a:t>Mr</a:t>
            </a:r>
            <a:r>
              <a:rPr lang="en-US" sz="1800" i="1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scadia Code" panose="020B0609020000020004" pitchFamily="49" charset="0"/>
              </a:rPr>
              <a:t>. </a:t>
            </a:r>
            <a:r>
              <a:rPr lang="en-US" sz="1800" i="1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scadia Code" panose="020B0609020000020004" pitchFamily="49" charset="0"/>
              </a:rPr>
              <a:t>P. </a:t>
            </a:r>
            <a:r>
              <a:rPr lang="en-US" sz="1800" i="1" dirty="0" err="1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scadia Code" panose="020B0609020000020004" pitchFamily="49" charset="0"/>
              </a:rPr>
              <a:t>J</a:t>
            </a:r>
            <a:r>
              <a:rPr lang="en-US" sz="1800" i="1" dirty="0" err="1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scadia Code" panose="020B0609020000020004" pitchFamily="49" charset="0"/>
              </a:rPr>
              <a:t>agadeeswara</a:t>
            </a:r>
            <a:r>
              <a:rPr lang="en-US" sz="1800" i="1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scadia Code" panose="020B0609020000020004" pitchFamily="49" charset="0"/>
              </a:rPr>
              <a:t> </a:t>
            </a:r>
            <a:r>
              <a:rPr lang="en-US" sz="1800" i="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scadia Code" panose="020B0609020000020004" pitchFamily="49" charset="0"/>
              </a:rPr>
              <a:t>R</a:t>
            </a:r>
            <a:r>
              <a:rPr lang="en-US" sz="1800" i="1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scadia Code" panose="020B0609020000020004" pitchFamily="49" charset="0"/>
              </a:rPr>
              <a:t>ao</a:t>
            </a:r>
            <a:endParaRPr lang="en-US" sz="1800" i="1" dirty="0" smtClean="0">
              <a:solidFill>
                <a:srgbClr val="002060"/>
              </a:solidFill>
              <a:latin typeface="Cambria" pitchFamily="18" charset="0"/>
              <a:ea typeface="Cambria" pitchFamily="18" charset="0"/>
              <a:cs typeface="Cascadia Code" panose="020B0609020000020004" pitchFamily="49" charset="0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  <a:spcAft>
                <a:spcPts val="50"/>
              </a:spcAft>
            </a:pPr>
            <a:r>
              <a:rPr lang="en-US" sz="1800" i="1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scadia Code" panose="020B0609020000020004" pitchFamily="49" charset="0"/>
              </a:rPr>
              <a:t>Sr. Assistant Professor </a:t>
            </a:r>
            <a:endParaRPr lang="en-US" sz="1800" i="1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B7A6D3D-B78F-D85E-97E1-29DD71EFC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1</a:t>
            </a:fld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F86724-97CD-E091-F699-45AD1E13910B}"/>
              </a:ext>
            </a:extLst>
          </p:cNvPr>
          <p:cNvCxnSpPr/>
          <p:nvPr/>
        </p:nvCxnSpPr>
        <p:spPr>
          <a:xfrm>
            <a:off x="463827" y="6758304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25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CCCC2-0320-EFD4-6CF7-D89020CF2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37" y="0"/>
            <a:ext cx="9692640" cy="84504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ambria" pitchFamily="18" charset="0"/>
                <a:ea typeface="Cambria" pitchFamily="18" charset="0"/>
                <a:cs typeface="Times New Roman" panose="02020603050405020304" pitchFamily="18" charset="0"/>
              </a:rPr>
              <a:t>Contents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B06153-DF13-118D-C6B2-50E431186592}"/>
              </a:ext>
            </a:extLst>
          </p:cNvPr>
          <p:cNvCxnSpPr/>
          <p:nvPr/>
        </p:nvCxnSpPr>
        <p:spPr>
          <a:xfrm>
            <a:off x="522271" y="845047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8B72F-FD5A-B268-FF90-79F35A16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524787" y="845047"/>
            <a:ext cx="577495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Abstract</a:t>
            </a:r>
            <a:endParaRPr lang="en-US" sz="2200" dirty="0">
              <a:latin typeface="Cambria" pitchFamily="18" charset="0"/>
              <a:ea typeface="Cambria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>
                <a:latin typeface="Cambria" pitchFamily="18" charset="0"/>
                <a:ea typeface="Cambria" pitchFamily="18" charset="0"/>
              </a:rPr>
              <a:t>Objective </a:t>
            </a:r>
            <a:endParaRPr lang="en-US" sz="2200" dirty="0" smtClean="0">
              <a:latin typeface="Cambria" pitchFamily="18" charset="0"/>
              <a:ea typeface="Cambria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Scope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Problem Statement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Basic Concepts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Literature Survey</a:t>
            </a:r>
            <a:endParaRPr lang="en-US" sz="2200" dirty="0">
              <a:latin typeface="Cambria" pitchFamily="18" charset="0"/>
              <a:ea typeface="Cambria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Drawbacks in </a:t>
            </a:r>
            <a:r>
              <a:rPr lang="en-US" sz="2200" dirty="0">
                <a:latin typeface="Cambria" pitchFamily="18" charset="0"/>
                <a:ea typeface="Cambria" pitchFamily="18" charset="0"/>
              </a:rPr>
              <a:t>Existing </a:t>
            </a:r>
            <a:r>
              <a:rPr lang="en-US" sz="2200" dirty="0" smtClean="0">
                <a:latin typeface="Cambria" pitchFamily="18" charset="0"/>
                <a:ea typeface="Cambria" pitchFamily="18" charset="0"/>
              </a:rPr>
              <a:t>System</a:t>
            </a:r>
            <a:endParaRPr lang="en-US" sz="2200" dirty="0">
              <a:latin typeface="Cambria" pitchFamily="18" charset="0"/>
              <a:ea typeface="Cambria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Proposed System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Methodology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Algorithm &amp; Libraries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Dataset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Implementation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Results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Conclusion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Future Work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References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 smtClean="0">
                <a:latin typeface="Cambria" pitchFamily="18" charset="0"/>
                <a:ea typeface="Cambria" pitchFamily="18" charset="0"/>
              </a:rPr>
              <a:t>Details of Journal Paper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200" dirty="0" smtClean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939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AD7BC-CD9C-4307-F4FC-F85515FF9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38" y="1534160"/>
            <a:ext cx="10385660" cy="4645977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</a:pPr>
            <a:r>
              <a:rPr lang="en-US" spc="0" dirty="0" smtClean="0">
                <a:solidFill>
                  <a:prstClr val="black"/>
                </a:solidFill>
                <a:latin typeface="Cambria" pitchFamily="18" charset="0"/>
                <a:ea typeface="Cambria" pitchFamily="18" charset="0"/>
              </a:rPr>
              <a:t> “Touchless Mouse Control via Hand Gestures enables users to control the system cursor with hand gestures without need for additional hardware.</a:t>
            </a:r>
          </a:p>
          <a:p>
            <a:pPr marL="0" lvl="0" indent="0" algn="just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</a:pPr>
            <a:endParaRPr lang="en-US" spc="0" dirty="0" smtClean="0">
              <a:solidFill>
                <a:prstClr val="black"/>
              </a:solidFill>
              <a:latin typeface="Cambria" pitchFamily="18" charset="0"/>
              <a:ea typeface="Cambria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</a:pPr>
            <a:r>
              <a:rPr lang="en-US" spc="0" dirty="0" smtClean="0">
                <a:solidFill>
                  <a:prstClr val="black"/>
                </a:solidFill>
                <a:latin typeface="Cambria" pitchFamily="18" charset="0"/>
                <a:ea typeface="Cambria" pitchFamily="18" charset="0"/>
              </a:rPr>
              <a:t>L</a:t>
            </a:r>
            <a:r>
              <a:rPr lang="en-US" spc="0" dirty="0" smtClean="0">
                <a:solidFill>
                  <a:prstClr val="black"/>
                </a:solidFill>
                <a:latin typeface="Cambria" pitchFamily="18" charset="0"/>
                <a:ea typeface="Cambria" pitchFamily="18" charset="0"/>
              </a:rPr>
              <a:t>ow-resolution in-built </a:t>
            </a:r>
            <a:r>
              <a:rPr lang="en-US" spc="0" dirty="0" smtClean="0">
                <a:solidFill>
                  <a:prstClr val="black"/>
                </a:solidFill>
                <a:latin typeface="Cambria" pitchFamily="18" charset="0"/>
                <a:ea typeface="Cambria" pitchFamily="18" charset="0"/>
              </a:rPr>
              <a:t>webcam </a:t>
            </a:r>
            <a:r>
              <a:rPr lang="en-US" spc="0" dirty="0" smtClean="0">
                <a:solidFill>
                  <a:prstClr val="black"/>
                </a:solidFill>
                <a:latin typeface="Cambria" pitchFamily="18" charset="0"/>
                <a:ea typeface="Cambria" pitchFamily="18" charset="0"/>
              </a:rPr>
              <a:t>as an input device to track hand movements.</a:t>
            </a:r>
          </a:p>
          <a:p>
            <a:pPr marL="0" lvl="0" indent="0" algn="just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</a:pPr>
            <a:endParaRPr lang="en-US" spc="0" dirty="0">
              <a:solidFill>
                <a:prstClr val="black"/>
              </a:solidFill>
              <a:latin typeface="Cambria" pitchFamily="18" charset="0"/>
              <a:ea typeface="Cambria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</a:pPr>
            <a:r>
              <a:rPr lang="en-US" spc="0" dirty="0">
                <a:solidFill>
                  <a:prstClr val="black"/>
                </a:solidFill>
                <a:latin typeface="Cambria" pitchFamily="18" charset="0"/>
                <a:ea typeface="Cambria" pitchFamily="18" charset="0"/>
              </a:rPr>
              <a:t>Implemented by using the deep learning model ResNet-18 and libraries like </a:t>
            </a:r>
            <a:r>
              <a:rPr lang="en-US" spc="0" dirty="0" err="1">
                <a:solidFill>
                  <a:prstClr val="black"/>
                </a:solidFill>
                <a:latin typeface="Cambria" pitchFamily="18" charset="0"/>
                <a:ea typeface="Cambria" pitchFamily="18" charset="0"/>
              </a:rPr>
              <a:t>OpenCV</a:t>
            </a:r>
            <a:r>
              <a:rPr lang="en-US" spc="0" dirty="0">
                <a:solidFill>
                  <a:prstClr val="black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spc="0" dirty="0" err="1">
                <a:solidFill>
                  <a:prstClr val="black"/>
                </a:solidFill>
                <a:latin typeface="Cambria" pitchFamily="18" charset="0"/>
                <a:ea typeface="Cambria" pitchFamily="18" charset="0"/>
              </a:rPr>
              <a:t>Mediapipe</a:t>
            </a:r>
            <a:r>
              <a:rPr lang="en-US" spc="0" dirty="0">
                <a:solidFill>
                  <a:prstClr val="black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spc="0" dirty="0" err="1">
                <a:solidFill>
                  <a:prstClr val="black"/>
                </a:solidFill>
                <a:latin typeface="Cambria" pitchFamily="18" charset="0"/>
                <a:ea typeface="Cambria" pitchFamily="18" charset="0"/>
              </a:rPr>
              <a:t>PyAutoGUI</a:t>
            </a:r>
            <a:r>
              <a:rPr lang="en-US" spc="0" dirty="0">
                <a:solidFill>
                  <a:prstClr val="black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spc="0" dirty="0" err="1">
                <a:solidFill>
                  <a:prstClr val="black"/>
                </a:solidFill>
                <a:latin typeface="Cambria" pitchFamily="18" charset="0"/>
                <a:ea typeface="Cambria" pitchFamily="18" charset="0"/>
              </a:rPr>
              <a:t>PyTorch</a:t>
            </a:r>
            <a:r>
              <a:rPr lang="en-US" spc="0" dirty="0">
                <a:solidFill>
                  <a:prstClr val="black"/>
                </a:solidFill>
                <a:latin typeface="Cambria" pitchFamily="18" charset="0"/>
                <a:ea typeface="Cambria" pitchFamily="18" charset="0"/>
              </a:rPr>
              <a:t> and </a:t>
            </a:r>
            <a:r>
              <a:rPr lang="en-US" spc="0" dirty="0" err="1">
                <a:solidFill>
                  <a:prstClr val="black"/>
                </a:solidFill>
                <a:latin typeface="Cambria" pitchFamily="18" charset="0"/>
                <a:ea typeface="Cambria" pitchFamily="18" charset="0"/>
              </a:rPr>
              <a:t>PyCAW</a:t>
            </a:r>
            <a:r>
              <a:rPr lang="en-US" spc="0" dirty="0">
                <a:solidFill>
                  <a:prstClr val="black"/>
                </a:solidFill>
                <a:latin typeface="Cambria" pitchFamily="18" charset="0"/>
                <a:ea typeface="Cambria" pitchFamily="18" charset="0"/>
              </a:rPr>
              <a:t> to ensure fast and accurate gesture recognition.</a:t>
            </a:r>
          </a:p>
          <a:p>
            <a:pPr marL="0" lvl="0" indent="0" algn="just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</a:pPr>
            <a:endParaRPr lang="en-US" spc="0" dirty="0" smtClean="0">
              <a:solidFill>
                <a:prstClr val="black"/>
              </a:solidFill>
              <a:latin typeface="Cambria" pitchFamily="18" charset="0"/>
              <a:ea typeface="Cambria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</a:pPr>
            <a:endParaRPr lang="en-US" spc="0" dirty="0" smtClean="0">
              <a:solidFill>
                <a:prstClr val="black"/>
              </a:solidFill>
              <a:latin typeface="Cambria" pitchFamily="18" charset="0"/>
              <a:ea typeface="Cambria" pitchFamily="18" charset="0"/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Key </a:t>
            </a:r>
            <a:r>
              <a:rPr lang="en-US" b="1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Words : </a:t>
            </a:r>
            <a:endParaRPr lang="en-US" b="1" dirty="0" smtClean="0">
              <a:solidFill>
                <a:srgbClr val="002060"/>
              </a:solidFill>
              <a:latin typeface="Cambria" pitchFamily="18" charset="0"/>
              <a:ea typeface="Cambria" pitchFamily="18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Hand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Gesture Recognition, Virtual Mouse Webcam, Convolutional Neural Network, MediaPipe,  ResNet18, 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OpenCV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</a:t>
            </a:r>
            <a:endParaRPr lang="en-IN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40FD01B-D4B2-D671-CAE2-B8FEF0B45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220" y="319075"/>
            <a:ext cx="9692640" cy="84504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ambria" pitchFamily="18" charset="0"/>
                <a:ea typeface="Cambria" pitchFamily="18" charset="0"/>
                <a:cs typeface="Times New Roman" panose="02020603050405020304" pitchFamily="18" charset="0"/>
              </a:rPr>
              <a:t>Abstract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712C1D-4210-5560-59C8-6A7C5BE2E871}"/>
              </a:ext>
            </a:extLst>
          </p:cNvPr>
          <p:cNvCxnSpPr/>
          <p:nvPr/>
        </p:nvCxnSpPr>
        <p:spPr>
          <a:xfrm>
            <a:off x="524787" y="1191259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3E14FC-7C7E-76A4-F972-AA5F69777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127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5" y="1820863"/>
            <a:ext cx="10345615" cy="4351337"/>
          </a:xfrm>
        </p:spPr>
        <p:txBody>
          <a:bodyPr/>
          <a:lstStyle/>
          <a:p>
            <a:pPr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This project aims to develop a virtual mouse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via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hand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gestures by utilizing 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ResNet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, 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OpenCv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and 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Mediapipe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.</a:t>
            </a:r>
            <a:endParaRPr lang="en-US" dirty="0" smtClean="0">
              <a:latin typeface="Cambria" pitchFamily="18" charset="0"/>
              <a:ea typeface="Cambria" pitchFamily="18" charset="0"/>
            </a:endParaRPr>
          </a:p>
          <a:p>
            <a:pPr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Our Project makes the human-computer interaction safe and user-friendly. </a:t>
            </a:r>
          </a:p>
          <a:p>
            <a:pPr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By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eliminating the need for physical input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devices, all physical mouse operations </a:t>
            </a:r>
            <a:r>
              <a:rPr lang="en-US" dirty="0">
                <a:latin typeface="Cambria" pitchFamily="18" charset="0"/>
                <a:ea typeface="Cambria" pitchFamily="18" charset="0"/>
              </a:rPr>
              <a:t>are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performed </a:t>
            </a:r>
            <a:r>
              <a:rPr lang="en-US" dirty="0">
                <a:latin typeface="Cambria" pitchFamily="18" charset="0"/>
                <a:ea typeface="Cambria" pitchFamily="18" charset="0"/>
              </a:rPr>
              <a:t>by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this system.</a:t>
            </a:r>
            <a:endParaRPr lang="en-US" dirty="0" smtClean="0">
              <a:latin typeface="Cambria" pitchFamily="18" charset="0"/>
              <a:ea typeface="Cambria" pitchFamily="18" charset="0"/>
            </a:endParaRPr>
          </a:p>
          <a:p>
            <a:pPr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The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system is cost-effective, requiring only a standard webcam for real-time hand tracking. </a:t>
            </a:r>
            <a:endParaRPr lang="en-US" dirty="0">
              <a:latin typeface="Cambria" pitchFamily="18" charset="0"/>
              <a:ea typeface="Cambria" pitchFamily="18" charset="0"/>
            </a:endParaRPr>
          </a:p>
          <a:p>
            <a:pPr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It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also improves accessibility for disabled users and promotes hygiene by reducing physical contact.</a:t>
            </a:r>
          </a:p>
          <a:p>
            <a:endParaRPr lang="en-US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03385" y="272018"/>
            <a:ext cx="9943119" cy="1428929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Cambria" pitchFamily="18" charset="0"/>
                <a:ea typeface="Cambria" pitchFamily="18" charset="0"/>
              </a:rPr>
              <a:t>Objective of project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IN" sz="36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712C1D-4210-5560-59C8-6A7C5BE2E871}"/>
              </a:ext>
            </a:extLst>
          </p:cNvPr>
          <p:cNvCxnSpPr/>
          <p:nvPr/>
        </p:nvCxnSpPr>
        <p:spPr>
          <a:xfrm>
            <a:off x="524787" y="1191259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26" y="308009"/>
            <a:ext cx="9692640" cy="803287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Cambria" pitchFamily="18" charset="0"/>
                <a:ea typeface="Cambria" pitchFamily="18" charset="0"/>
              </a:rPr>
              <a:t>Scope of project</a:t>
            </a:r>
            <a:endParaRPr lang="en-US" sz="36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354" y="2032412"/>
            <a:ext cx="10685486" cy="3847884"/>
          </a:xfrm>
        </p:spPr>
        <p:txBody>
          <a:bodyPr>
            <a:normAutofit/>
          </a:bodyPr>
          <a:lstStyle/>
          <a:p>
            <a:pPr lvl="0" algn="just"/>
            <a:r>
              <a:rPr lang="en-US" dirty="0" smtClean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User </a:t>
            </a:r>
            <a:r>
              <a:rPr lang="en-US" dirty="0" smtClean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Accessibility:</a:t>
            </a:r>
          </a:p>
          <a:p>
            <a:pPr lvl="1"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Touchless solution for daily tasks.</a:t>
            </a:r>
          </a:p>
          <a:p>
            <a:pPr lvl="1"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Beneficial for individuals with physical disabilities.</a:t>
            </a:r>
          </a:p>
          <a:p>
            <a:pPr lvl="0" algn="just"/>
            <a:r>
              <a:rPr lang="en-US" dirty="0" smtClean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Applications:</a:t>
            </a:r>
          </a:p>
          <a:p>
            <a:pPr lvl="1"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Ideal for gaming, VR, and smart environments.</a:t>
            </a:r>
          </a:p>
          <a:p>
            <a:pPr lvl="1"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Suitable for hygienic, hands-free settings like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healthcare.</a:t>
            </a:r>
            <a:endParaRPr lang="en-US" dirty="0">
              <a:latin typeface="Cambria" pitchFamily="18" charset="0"/>
              <a:ea typeface="Cambria" pitchFamily="18" charset="0"/>
            </a:endParaRPr>
          </a:p>
          <a:p>
            <a:pPr lvl="0" algn="just"/>
            <a:r>
              <a:rPr lang="en-US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Technology Integration:</a:t>
            </a:r>
          </a:p>
          <a:p>
            <a:pPr lvl="1" algn="just"/>
            <a:r>
              <a:rPr lang="en-US" dirty="0">
                <a:latin typeface="Cambria" pitchFamily="18" charset="0"/>
                <a:ea typeface="Cambria" pitchFamily="18" charset="0"/>
              </a:rPr>
              <a:t>Uses deep learning (</a:t>
            </a:r>
            <a:r>
              <a:rPr lang="en-US" dirty="0" err="1">
                <a:latin typeface="Cambria" pitchFamily="18" charset="0"/>
                <a:ea typeface="Cambria" pitchFamily="18" charset="0"/>
              </a:rPr>
              <a:t>ResNet</a:t>
            </a:r>
            <a:r>
              <a:rPr lang="en-US" dirty="0">
                <a:latin typeface="Cambria" pitchFamily="18" charset="0"/>
                <a:ea typeface="Cambria" pitchFamily="18" charset="0"/>
              </a:rPr>
              <a:t>) for gesture recognition and </a:t>
            </a:r>
            <a:r>
              <a:rPr lang="en-US" dirty="0" err="1">
                <a:latin typeface="Cambria" pitchFamily="18" charset="0"/>
                <a:ea typeface="Cambria" pitchFamily="18" charset="0"/>
              </a:rPr>
              <a:t>OpenCV</a:t>
            </a:r>
            <a:r>
              <a:rPr lang="en-US" dirty="0">
                <a:latin typeface="Cambria" pitchFamily="18" charset="0"/>
                <a:ea typeface="Cambria" pitchFamily="18" charset="0"/>
              </a:rPr>
              <a:t> for real-time hand tracking.</a:t>
            </a:r>
          </a:p>
          <a:p>
            <a:pPr lvl="1" algn="just"/>
            <a:r>
              <a:rPr lang="en-US" dirty="0">
                <a:latin typeface="Cambria" pitchFamily="18" charset="0"/>
                <a:ea typeface="Cambria" pitchFamily="18" charset="0"/>
              </a:rPr>
              <a:t>Affordable and accessible with minimal hardware (webcam).</a:t>
            </a:r>
          </a:p>
          <a:p>
            <a:pPr marL="274320" lvl="1" indent="0" algn="just">
              <a:buNone/>
            </a:pPr>
            <a:endParaRPr lang="en-US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5</a:t>
            </a:fld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712C1D-4210-5560-59C8-6A7C5BE2E871}"/>
              </a:ext>
            </a:extLst>
          </p:cNvPr>
          <p:cNvCxnSpPr/>
          <p:nvPr/>
        </p:nvCxnSpPr>
        <p:spPr>
          <a:xfrm>
            <a:off x="524787" y="1191259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481" y="551151"/>
            <a:ext cx="9692640" cy="1046643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latin typeface="Cambria" pitchFamily="18" charset="0"/>
                <a:ea typeface="Cambria" pitchFamily="18" charset="0"/>
              </a:rPr>
              <a:t>Problem Statement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/>
            </a:r>
            <a:br>
              <a:rPr lang="en-US" dirty="0" smtClean="0">
                <a:latin typeface="Cambria" pitchFamily="18" charset="0"/>
                <a:ea typeface="Cambria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787" y="1597795"/>
            <a:ext cx="10505163" cy="366000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Traditional mouse devices require physical contact, which is not hygienic and can be difficult for disabled users to operate.</a:t>
            </a:r>
            <a:br>
              <a:rPr lang="en-US" dirty="0"/>
            </a:b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Current </a:t>
            </a:r>
            <a:r>
              <a:rPr lang="en-US" dirty="0"/>
              <a:t>virtual mouse systems lack accuracy, fail to perform all mouse functions, and struggle in different lighting or noisy environments.</a:t>
            </a:r>
            <a:br>
              <a:rPr lang="en-US" dirty="0"/>
            </a:b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We </a:t>
            </a:r>
            <a:r>
              <a:rPr lang="en-US" dirty="0"/>
              <a:t>need a smart, touchless solution that performs all mouse functions accurately, is user-friendly, and works for everyone."</a:t>
            </a:r>
            <a:endParaRPr lang="en-US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6</a:t>
            </a:fld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712C1D-4210-5560-59C8-6A7C5BE2E871}"/>
              </a:ext>
            </a:extLst>
          </p:cNvPr>
          <p:cNvCxnSpPr/>
          <p:nvPr/>
        </p:nvCxnSpPr>
        <p:spPr>
          <a:xfrm>
            <a:off x="524787" y="1066131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042" y="400050"/>
            <a:ext cx="9692640" cy="64357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Basic concepts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50" y="1524000"/>
            <a:ext cx="10420350" cy="4351337"/>
          </a:xfrm>
        </p:spPr>
        <p:txBody>
          <a:bodyPr/>
          <a:lstStyle/>
          <a:p>
            <a:pPr algn="just"/>
            <a:r>
              <a:rPr lang="en-IN" b="1" dirty="0">
                <a:solidFill>
                  <a:schemeClr val="accent3"/>
                </a:solidFill>
              </a:rPr>
              <a:t>Touchless Interaction:</a:t>
            </a:r>
            <a:r>
              <a:rPr lang="en-IN" dirty="0"/>
              <a:t> </a:t>
            </a:r>
            <a:r>
              <a:rPr lang="en-IN" dirty="0">
                <a:solidFill>
                  <a:schemeClr val="tx1"/>
                </a:solidFill>
              </a:rPr>
              <a:t>Controls mouse cursor and actions via hand gestures, eliminating physical devices.</a:t>
            </a:r>
          </a:p>
          <a:p>
            <a:pPr algn="just"/>
            <a:r>
              <a:rPr lang="en-IN" b="1" dirty="0">
                <a:solidFill>
                  <a:schemeClr val="accent3"/>
                </a:solidFill>
              </a:rPr>
              <a:t>Core Technologies:</a:t>
            </a:r>
            <a:r>
              <a:rPr lang="en-IN" dirty="0"/>
              <a:t> </a:t>
            </a:r>
            <a:r>
              <a:rPr lang="en-IN" dirty="0">
                <a:solidFill>
                  <a:schemeClr val="tx1"/>
                </a:solidFill>
              </a:rPr>
              <a:t>Uses </a:t>
            </a:r>
            <a:r>
              <a:rPr lang="en-IN" dirty="0" err="1">
                <a:solidFill>
                  <a:schemeClr val="tx1"/>
                </a:solidFill>
              </a:rPr>
              <a:t>OpenCV</a:t>
            </a:r>
            <a:r>
              <a:rPr lang="en-IN" dirty="0">
                <a:solidFill>
                  <a:schemeClr val="tx1"/>
                </a:solidFill>
              </a:rPr>
              <a:t> (video processing), </a:t>
            </a:r>
            <a:r>
              <a:rPr lang="en-IN" dirty="0" err="1">
                <a:solidFill>
                  <a:schemeClr val="tx1"/>
                </a:solidFill>
              </a:rPr>
              <a:t>MediaPipe</a:t>
            </a:r>
            <a:r>
              <a:rPr lang="en-IN" dirty="0">
                <a:solidFill>
                  <a:schemeClr val="tx1"/>
                </a:solidFill>
              </a:rPr>
              <a:t> (hand tracking), and ResNet-18 (gesture recognition).</a:t>
            </a:r>
          </a:p>
          <a:p>
            <a:pPr algn="just"/>
            <a:r>
              <a:rPr lang="en-IN" b="1" dirty="0">
                <a:solidFill>
                  <a:schemeClr val="accent3"/>
                </a:solidFill>
              </a:rPr>
              <a:t>How It Works:</a:t>
            </a:r>
            <a:r>
              <a:rPr lang="en-IN" dirty="0"/>
              <a:t> </a:t>
            </a:r>
            <a:r>
              <a:rPr lang="en-IN" dirty="0">
                <a:solidFill>
                  <a:schemeClr val="tx1"/>
                </a:solidFill>
              </a:rPr>
              <a:t>Webcam captures gestures → Landmarks detected → Gestures mapped to mouse actions (clicks, scrolls).</a:t>
            </a:r>
          </a:p>
          <a:p>
            <a:pPr algn="just"/>
            <a:r>
              <a:rPr lang="en-IN" b="1" dirty="0">
                <a:solidFill>
                  <a:schemeClr val="accent3"/>
                </a:solidFill>
              </a:rPr>
              <a:t>Key Benefits:</a:t>
            </a:r>
            <a:r>
              <a:rPr lang="en-IN" dirty="0"/>
              <a:t> </a:t>
            </a:r>
            <a:r>
              <a:rPr lang="en-IN" dirty="0">
                <a:solidFill>
                  <a:schemeClr val="tx1"/>
                </a:solidFill>
              </a:rPr>
              <a:t>Hygienic (no contact), accessible (disability-friendly), and cost-effective (webcam only).</a:t>
            </a:r>
          </a:p>
          <a:p>
            <a:pPr algn="just"/>
            <a:r>
              <a:rPr lang="en-IN" b="1" dirty="0">
                <a:solidFill>
                  <a:schemeClr val="accent3"/>
                </a:solidFill>
              </a:rPr>
              <a:t>Applications:</a:t>
            </a:r>
            <a:r>
              <a:rPr lang="en-IN" dirty="0"/>
              <a:t> </a:t>
            </a:r>
            <a:r>
              <a:rPr lang="en-IN" dirty="0">
                <a:solidFill>
                  <a:schemeClr val="tx1"/>
                </a:solidFill>
              </a:rPr>
              <a:t>Ideal for healthcare, gaming, smart classrooms, and VR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9362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604" y="349021"/>
            <a:ext cx="9692640" cy="1142894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latin typeface="Cambria" pitchFamily="18" charset="0"/>
                <a:ea typeface="Cambria" pitchFamily="18" charset="0"/>
              </a:rPr>
              <a:t>Literature Survey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/>
            </a:r>
            <a:br>
              <a:rPr lang="en-US" dirty="0" smtClean="0">
                <a:latin typeface="Cambria" pitchFamily="18" charset="0"/>
                <a:ea typeface="Cambria" pitchFamily="18" charset="0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8</a:t>
            </a:fld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712C1D-4210-5560-59C8-6A7C5BE2E871}"/>
              </a:ext>
            </a:extLst>
          </p:cNvPr>
          <p:cNvCxnSpPr/>
          <p:nvPr/>
        </p:nvCxnSpPr>
        <p:spPr>
          <a:xfrm>
            <a:off x="522271" y="981725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endParaRPr lang="en-IN" dirty="0"/>
          </a:p>
          <a:p>
            <a:pPr fontAlgn="t"/>
            <a:endParaRPr lang="en-IN" dirty="0"/>
          </a:p>
          <a:p>
            <a:pPr fontAlgn="t"/>
            <a:endParaRPr lang="en-IN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218197"/>
              </p:ext>
            </p:extLst>
          </p:nvPr>
        </p:nvGraphicFramePr>
        <p:xfrm>
          <a:off x="306149" y="1093326"/>
          <a:ext cx="10821396" cy="5195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284">
                  <a:extLst>
                    <a:ext uri="{9D8B030D-6E8A-4147-A177-3AD203B41FA5}">
                      <a16:colId xmlns:a16="http://schemas.microsoft.com/office/drawing/2014/main" val="1273722416"/>
                    </a:ext>
                  </a:extLst>
                </a:gridCol>
                <a:gridCol w="2630645">
                  <a:extLst>
                    <a:ext uri="{9D8B030D-6E8A-4147-A177-3AD203B41FA5}">
                      <a16:colId xmlns:a16="http://schemas.microsoft.com/office/drawing/2014/main" val="2768388800"/>
                    </a:ext>
                  </a:extLst>
                </a:gridCol>
                <a:gridCol w="1958149">
                  <a:extLst>
                    <a:ext uri="{9D8B030D-6E8A-4147-A177-3AD203B41FA5}">
                      <a16:colId xmlns:a16="http://schemas.microsoft.com/office/drawing/2014/main" val="1416434843"/>
                    </a:ext>
                  </a:extLst>
                </a:gridCol>
                <a:gridCol w="3453039">
                  <a:extLst>
                    <a:ext uri="{9D8B030D-6E8A-4147-A177-3AD203B41FA5}">
                      <a16:colId xmlns:a16="http://schemas.microsoft.com/office/drawing/2014/main" val="780913300"/>
                    </a:ext>
                  </a:extLst>
                </a:gridCol>
                <a:gridCol w="2164279">
                  <a:extLst>
                    <a:ext uri="{9D8B030D-6E8A-4147-A177-3AD203B41FA5}">
                      <a16:colId xmlns:a16="http://schemas.microsoft.com/office/drawing/2014/main" val="1649595442"/>
                    </a:ext>
                  </a:extLst>
                </a:gridCol>
              </a:tblGrid>
              <a:tr h="121867">
                <a:tc>
                  <a:txBody>
                    <a:bodyPr/>
                    <a:lstStyle/>
                    <a:p>
                      <a:r>
                        <a:rPr lang="en-IN" sz="1600" dirty="0" err="1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</a:t>
                      </a:r>
                      <a:r>
                        <a:rPr lang="en-IN" sz="1600" baseline="0" dirty="0" err="1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.No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Paper Title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</a:t>
                      </a:r>
                      <a:r>
                        <a:rPr lang="en-IN" sz="1600" baseline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Technologies</a:t>
                      </a:r>
                      <a:r>
                        <a:rPr lang="en-IN" sz="1600" baseline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Used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limitations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271710"/>
                  </a:ext>
                </a:extLst>
              </a:tr>
              <a:tr h="917211">
                <a:tc>
                  <a:txBody>
                    <a:bodyPr/>
                    <a:lstStyle/>
                    <a:p>
                      <a:r>
                        <a:rPr lang="en-IN" sz="159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90" dirty="0">
                          <a:latin typeface="Cambria" pitchFamily="18" charset="0"/>
                          <a:ea typeface="Cambria" pitchFamily="18" charset="0"/>
                        </a:rPr>
                        <a:t>Eyeball-Based Cursor Movement </a:t>
                      </a:r>
                      <a:r>
                        <a:rPr lang="en-IN" sz="1590" dirty="0" smtClean="0">
                          <a:latin typeface="Cambria" pitchFamily="18" charset="0"/>
                          <a:ea typeface="Cambria" pitchFamily="18" charset="0"/>
                        </a:rPr>
                        <a:t>Control [1</a:t>
                      </a:r>
                      <a:r>
                        <a:rPr lang="en-IN" sz="1590" dirty="0" smtClean="0">
                          <a:latin typeface="Cambria" pitchFamily="18" charset="0"/>
                          <a:ea typeface="Cambria" pitchFamily="18" charset="0"/>
                        </a:rPr>
                        <a:t>],</a:t>
                      </a:r>
                      <a:r>
                        <a:rPr lang="en-IN" sz="1590" baseline="0" dirty="0" smtClean="0">
                          <a:latin typeface="Cambria" pitchFamily="18" charset="0"/>
                          <a:ea typeface="Cambria" pitchFamily="18" charset="0"/>
                        </a:rPr>
                        <a:t> 2021</a:t>
                      </a:r>
                      <a:endParaRPr lang="en-IN" sz="159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90" dirty="0">
                          <a:latin typeface="Cambria" pitchFamily="18" charset="0"/>
                          <a:ea typeface="Cambria" pitchFamily="18" charset="0"/>
                        </a:rPr>
                        <a:t>A. </a:t>
                      </a:r>
                      <a:r>
                        <a:rPr lang="en-IN" sz="1590" dirty="0" err="1">
                          <a:latin typeface="Cambria" pitchFamily="18" charset="0"/>
                          <a:ea typeface="Cambria" pitchFamily="18" charset="0"/>
                        </a:rPr>
                        <a:t>Sivasangari</a:t>
                      </a:r>
                      <a:r>
                        <a:rPr lang="en-IN" sz="1590" dirty="0">
                          <a:latin typeface="Cambria" pitchFamily="18" charset="0"/>
                          <a:ea typeface="Cambria" pitchFamily="18" charset="0"/>
                        </a:rPr>
                        <a:t>, D. </a:t>
                      </a:r>
                      <a:r>
                        <a:rPr lang="en-IN" sz="1590" dirty="0" err="1">
                          <a:latin typeface="Cambria" pitchFamily="18" charset="0"/>
                          <a:ea typeface="Cambria" pitchFamily="18" charset="0"/>
                        </a:rPr>
                        <a:t>Deepa</a:t>
                      </a:r>
                      <a:r>
                        <a:rPr lang="en-IN" sz="1590" dirty="0">
                          <a:latin typeface="Cambria" pitchFamily="18" charset="0"/>
                          <a:ea typeface="Cambria" pitchFamily="18" charset="0"/>
                        </a:rPr>
                        <a:t>, T. </a:t>
                      </a:r>
                      <a:r>
                        <a:rPr lang="en-IN" sz="1590" dirty="0" err="1">
                          <a:latin typeface="Cambria" pitchFamily="18" charset="0"/>
                          <a:ea typeface="Cambria" pitchFamily="18" charset="0"/>
                        </a:rPr>
                        <a:t>Anandhi</a:t>
                      </a:r>
                      <a:r>
                        <a:rPr lang="en-IN" sz="1590" dirty="0">
                          <a:latin typeface="Cambria" pitchFamily="18" charset="0"/>
                          <a:ea typeface="Cambria" pitchFamily="18" charset="0"/>
                        </a:rPr>
                        <a:t>, A. </a:t>
                      </a:r>
                      <a:r>
                        <a:rPr lang="en-IN" sz="1590" dirty="0" err="1">
                          <a:latin typeface="Cambria" pitchFamily="18" charset="0"/>
                          <a:ea typeface="Cambria" pitchFamily="18" charset="0"/>
                        </a:rPr>
                        <a:t>Ponraj</a:t>
                      </a:r>
                      <a:r>
                        <a:rPr lang="en-IN" sz="1590" dirty="0">
                          <a:latin typeface="Cambria" pitchFamily="18" charset="0"/>
                          <a:ea typeface="Cambria" pitchFamily="18" charset="0"/>
                        </a:rPr>
                        <a:t>, and M. S. </a:t>
                      </a:r>
                      <a:r>
                        <a:rPr lang="en-IN" sz="1590" dirty="0" err="1">
                          <a:latin typeface="Cambria" pitchFamily="18" charset="0"/>
                          <a:ea typeface="Cambria" pitchFamily="18" charset="0"/>
                        </a:rPr>
                        <a:t>Roobini</a:t>
                      </a:r>
                      <a:endParaRPr lang="en-IN" sz="159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90">
                          <a:latin typeface="Cambria" pitchFamily="18" charset="0"/>
                          <a:ea typeface="Cambria" pitchFamily="18" charset="0"/>
                        </a:rPr>
                        <a:t>Haar Cascade Classifier, OpenCV, Dlib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90">
                          <a:latin typeface="Cambria" pitchFamily="18" charset="0"/>
                          <a:ea typeface="Cambria" pitchFamily="18" charset="0"/>
                        </a:rPr>
                        <a:t>Causes eye strain with prolonged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9423119"/>
                  </a:ext>
                </a:extLst>
              </a:tr>
              <a:tr h="1257353">
                <a:tc>
                  <a:txBody>
                    <a:bodyPr/>
                    <a:lstStyle/>
                    <a:p>
                      <a:r>
                        <a:rPr lang="en-IN" sz="1590" dirty="0" smtClean="0"/>
                        <a:t>2</a:t>
                      </a:r>
                      <a:endParaRPr lang="en-IN" sz="159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90" dirty="0">
                          <a:latin typeface="Cambria" pitchFamily="18" charset="0"/>
                          <a:ea typeface="Cambria" pitchFamily="18" charset="0"/>
                        </a:rPr>
                        <a:t>Face Gesture-Based Virtual Mouse Using </a:t>
                      </a:r>
                      <a:r>
                        <a:rPr lang="en-US" sz="1590" dirty="0" err="1" smtClean="0">
                          <a:latin typeface="Cambria" pitchFamily="18" charset="0"/>
                          <a:ea typeface="Cambria" pitchFamily="18" charset="0"/>
                        </a:rPr>
                        <a:t>Mediapipe</a:t>
                      </a:r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 [2</a:t>
                      </a:r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], 2023</a:t>
                      </a:r>
                      <a:endParaRPr lang="en-US" sz="159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A. Kumar Raja, C. </a:t>
                      </a:r>
                      <a:r>
                        <a:rPr lang="en-US" sz="1590" dirty="0" err="1" smtClean="0">
                          <a:latin typeface="Cambria" pitchFamily="18" charset="0"/>
                          <a:ea typeface="Cambria" pitchFamily="18" charset="0"/>
                        </a:rPr>
                        <a:t>Sugandhi</a:t>
                      </a:r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, G. </a:t>
                      </a:r>
                      <a:r>
                        <a:rPr lang="en-US" sz="1590" dirty="0" err="1" smtClean="0">
                          <a:latin typeface="Cambria" pitchFamily="18" charset="0"/>
                          <a:ea typeface="Cambria" pitchFamily="18" charset="0"/>
                        </a:rPr>
                        <a:t>Nymish</a:t>
                      </a:r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, N. Sal </a:t>
                      </a:r>
                      <a:r>
                        <a:rPr lang="en-US" sz="1590" dirty="0" err="1" smtClean="0">
                          <a:latin typeface="Cambria" pitchFamily="18" charset="0"/>
                          <a:ea typeface="Cambria" pitchFamily="18" charset="0"/>
                        </a:rPr>
                        <a:t>Havish</a:t>
                      </a:r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, and M. </a:t>
                      </a:r>
                      <a:r>
                        <a:rPr lang="en-US" sz="1590" dirty="0" err="1" smtClean="0">
                          <a:latin typeface="Cambria" pitchFamily="18" charset="0"/>
                          <a:ea typeface="Cambria" pitchFamily="18" charset="0"/>
                        </a:rPr>
                        <a:t>Rashmi</a:t>
                      </a:r>
                      <a:endParaRPr lang="en-US" sz="159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CNN for facial recognition, </a:t>
                      </a:r>
                      <a:r>
                        <a:rPr lang="en-US" sz="1590" dirty="0" err="1" smtClean="0">
                          <a:latin typeface="Cambria" pitchFamily="18" charset="0"/>
                          <a:ea typeface="Cambria" pitchFamily="18" charset="0"/>
                        </a:rPr>
                        <a:t>Dlib</a:t>
                      </a:r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 for face landmark detection, </a:t>
                      </a:r>
                      <a:r>
                        <a:rPr lang="en-US" sz="1590" dirty="0" err="1" smtClean="0">
                          <a:latin typeface="Cambria" pitchFamily="18" charset="0"/>
                          <a:ea typeface="Cambria" pitchFamily="18" charset="0"/>
                        </a:rPr>
                        <a:t>OpenCV</a:t>
                      </a:r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 for gesture processing</a:t>
                      </a:r>
                      <a:endParaRPr lang="en-US" sz="159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Difficult to track multiple facial features, leading to inaccuracies</a:t>
                      </a:r>
                      <a:endParaRPr lang="en-US" sz="159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0609553"/>
                  </a:ext>
                </a:extLst>
              </a:tr>
              <a:tr h="1490196">
                <a:tc>
                  <a:txBody>
                    <a:bodyPr/>
                    <a:lstStyle/>
                    <a:p>
                      <a:r>
                        <a:rPr lang="en-IN" sz="1590" dirty="0" smtClean="0"/>
                        <a:t>3</a:t>
                      </a:r>
                      <a:endParaRPr lang="en-IN" sz="159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90" dirty="0">
                          <a:latin typeface="Cambria" pitchFamily="18" charset="0"/>
                          <a:ea typeface="Cambria" pitchFamily="18" charset="0"/>
                        </a:rPr>
                        <a:t>Voice Assistant and Gesture Controlled Virtual Mouse Using Deep Learning </a:t>
                      </a:r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Technique [3</a:t>
                      </a:r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], 2024</a:t>
                      </a:r>
                      <a:endParaRPr lang="en-US" sz="159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M. Raja, P. </a:t>
                      </a:r>
                      <a:r>
                        <a:rPr lang="en-US" sz="1590" dirty="0" err="1" smtClean="0">
                          <a:latin typeface="Cambria" pitchFamily="18" charset="0"/>
                          <a:ea typeface="Cambria" pitchFamily="18" charset="0"/>
                        </a:rPr>
                        <a:t>Nagaraj</a:t>
                      </a:r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, P. </a:t>
                      </a:r>
                      <a:r>
                        <a:rPr lang="en-US" sz="1590" dirty="0" err="1" smtClean="0">
                          <a:latin typeface="Cambria" pitchFamily="18" charset="0"/>
                          <a:ea typeface="Cambria" pitchFamily="18" charset="0"/>
                        </a:rPr>
                        <a:t>Sathwik</a:t>
                      </a:r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, K. </a:t>
                      </a:r>
                      <a:r>
                        <a:rPr lang="el-GR" sz="1590" dirty="0" smtClean="0">
                          <a:latin typeface="Cambria" pitchFamily="18" charset="0"/>
                          <a:ea typeface="Cambria" pitchFamily="18" charset="0"/>
                        </a:rPr>
                        <a:t>Μ. Α. </a:t>
                      </a:r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Khan, N. M. Kumar, and U. S. Prasad</a:t>
                      </a:r>
                      <a:endParaRPr lang="en-US" sz="159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Deep Neural Networks (DNN) for speech recognition, MFCC for feature extraction, Google Speech Recognition API</a:t>
                      </a:r>
                      <a:endParaRPr lang="en-US" sz="159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Background noise affects accuracy, best in quiet environments</a:t>
                      </a:r>
                      <a:endParaRPr lang="en-US" sz="159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2841261"/>
                  </a:ext>
                </a:extLst>
              </a:tr>
              <a:tr h="1005825">
                <a:tc>
                  <a:txBody>
                    <a:bodyPr/>
                    <a:lstStyle/>
                    <a:p>
                      <a:r>
                        <a:rPr lang="en-IN" sz="1590" dirty="0" smtClean="0"/>
                        <a:t>4</a:t>
                      </a:r>
                      <a:endParaRPr lang="en-IN" sz="159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90" dirty="0">
                          <a:latin typeface="Cambria" pitchFamily="18" charset="0"/>
                          <a:ea typeface="Cambria" pitchFamily="18" charset="0"/>
                        </a:rPr>
                        <a:t>Virtual Mouse Input Control Using Hand </a:t>
                      </a:r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Gestures [4</a:t>
                      </a:r>
                      <a:r>
                        <a:rPr lang="en-US" sz="1590" dirty="0" smtClean="0">
                          <a:latin typeface="Cambria" pitchFamily="18" charset="0"/>
                          <a:ea typeface="Cambria" pitchFamily="18" charset="0"/>
                        </a:rPr>
                        <a:t>], 2021</a:t>
                      </a:r>
                      <a:endParaRPr lang="en-US" sz="159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90" dirty="0">
                          <a:latin typeface="Cambria" pitchFamily="18" charset="0"/>
                          <a:ea typeface="Cambria" pitchFamily="18" charset="0"/>
                        </a:rPr>
                        <a:t>M. Mishra, A. Gupta, V. Mehta, and R. </a:t>
                      </a:r>
                      <a:r>
                        <a:rPr lang="en-US" sz="1590" dirty="0" err="1">
                          <a:latin typeface="Cambria" pitchFamily="18" charset="0"/>
                          <a:ea typeface="Cambria" pitchFamily="18" charset="0"/>
                        </a:rPr>
                        <a:t>Ranjan</a:t>
                      </a:r>
                      <a:endParaRPr lang="en-US" sz="159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90" dirty="0" err="1">
                          <a:latin typeface="Cambria" pitchFamily="18" charset="0"/>
                          <a:ea typeface="Cambria" pitchFamily="18" charset="0"/>
                        </a:rPr>
                        <a:t>MediaPipe</a:t>
                      </a:r>
                      <a:r>
                        <a:rPr lang="en-IN" sz="1590" dirty="0">
                          <a:latin typeface="Cambria" pitchFamily="18" charset="0"/>
                          <a:ea typeface="Cambria" pitchFamily="18" charset="0"/>
                        </a:rPr>
                        <a:t> Hand Tracking, </a:t>
                      </a:r>
                      <a:r>
                        <a:rPr lang="en-IN" sz="1590" dirty="0" err="1">
                          <a:latin typeface="Cambria" pitchFamily="18" charset="0"/>
                          <a:ea typeface="Cambria" pitchFamily="18" charset="0"/>
                        </a:rPr>
                        <a:t>OpenCV</a:t>
                      </a:r>
                      <a:r>
                        <a:rPr lang="en-IN" sz="1590" dirty="0">
                          <a:latin typeface="Cambria" pitchFamily="18" charset="0"/>
                          <a:ea typeface="Cambria" pitchFamily="18" charset="0"/>
                        </a:rPr>
                        <a:t>, Euclidean Distance Algorithm for gesture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90" dirty="0">
                          <a:latin typeface="Cambria" pitchFamily="18" charset="0"/>
                          <a:ea typeface="Cambria" pitchFamily="18" charset="0"/>
                        </a:rPr>
                        <a:t>Requires wearing colored caps, reducing flexibility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97357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63" y="336884"/>
            <a:ext cx="9644514" cy="796173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Cambria" pitchFamily="18" charset="0"/>
                <a:ea typeface="Cambria" pitchFamily="18" charset="0"/>
              </a:rPr>
              <a:t>Drawbacks in Existing System</a:t>
            </a:r>
            <a:endParaRPr lang="en-US" sz="36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6721" y="1742172"/>
            <a:ext cx="10493537" cy="4351337"/>
          </a:xfrm>
        </p:spPr>
        <p:txBody>
          <a:bodyPr/>
          <a:lstStyle/>
          <a:p>
            <a:pPr algn="just"/>
            <a:r>
              <a:rPr lang="en-US" b="1" dirty="0" smtClean="0">
                <a:solidFill>
                  <a:schemeClr val="accent3"/>
                </a:solidFill>
                <a:latin typeface="Cambria" pitchFamily="18" charset="0"/>
                <a:ea typeface="Cambria" pitchFamily="18" charset="0"/>
              </a:rPr>
              <a:t>Requires Additional Hardware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– Users need to purchase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finger caps for hand to detect hand accurately.</a:t>
            </a:r>
          </a:p>
          <a:p>
            <a:pPr algn="just"/>
            <a:r>
              <a:rPr lang="en-US" b="1" dirty="0" smtClean="0">
                <a:solidFill>
                  <a:schemeClr val="accent3"/>
                </a:solidFill>
                <a:latin typeface="Cambria" pitchFamily="18" charset="0"/>
                <a:ea typeface="Cambria" pitchFamily="18" charset="0"/>
              </a:rPr>
              <a:t>Limited </a:t>
            </a:r>
            <a:r>
              <a:rPr lang="en-US" b="1" dirty="0" smtClean="0">
                <a:solidFill>
                  <a:schemeClr val="accent3"/>
                </a:solidFill>
                <a:latin typeface="Cambria" pitchFamily="18" charset="0"/>
                <a:ea typeface="Cambria" pitchFamily="18" charset="0"/>
              </a:rPr>
              <a:t>Mouse Operations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– The system supports only basic mouse functionalities, lacking advanced controls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like Stop Cursor Movement, Volume Control and Brightness Control.</a:t>
            </a:r>
            <a:endParaRPr lang="en-US" dirty="0" smtClean="0">
              <a:latin typeface="Cambria" pitchFamily="18" charset="0"/>
              <a:ea typeface="Cambria" pitchFamily="18" charset="0"/>
            </a:endParaRPr>
          </a:p>
          <a:p>
            <a:pPr algn="just"/>
            <a:r>
              <a:rPr lang="en-US" b="1" dirty="0" smtClean="0">
                <a:solidFill>
                  <a:schemeClr val="accent3"/>
                </a:solidFill>
                <a:latin typeface="Cambria" pitchFamily="18" charset="0"/>
                <a:ea typeface="Cambria" pitchFamily="18" charset="0"/>
              </a:rPr>
              <a:t>Dependency on Finger Distance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– Mouse operations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mainly based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on the distance between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each finger of hand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, which may cause inaccuracies in </a:t>
            </a:r>
            <a:r>
              <a:rPr lang="en-US" dirty="0">
                <a:latin typeface="Cambria" pitchFamily="18" charset="0"/>
                <a:ea typeface="Cambria" pitchFamily="18" charset="0"/>
              </a:rPr>
              <a:t>h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and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gesture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recognition.</a:t>
            </a:r>
            <a:endParaRPr lang="en-US" dirty="0" smtClean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9</a:t>
            </a:fld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712C1D-4210-5560-59C8-6A7C5BE2E871}"/>
              </a:ext>
            </a:extLst>
          </p:cNvPr>
          <p:cNvCxnSpPr/>
          <p:nvPr/>
        </p:nvCxnSpPr>
        <p:spPr>
          <a:xfrm>
            <a:off x="524787" y="1066131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7" y="125113"/>
            <a:ext cx="9692640" cy="1428929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Cambria" pitchFamily="18" charset="0"/>
                <a:ea typeface="Cambria" pitchFamily="18" charset="0"/>
              </a:rPr>
              <a:t>Proposed System</a:t>
            </a:r>
            <a:br>
              <a:rPr lang="en-US" sz="3600" dirty="0" smtClean="0">
                <a:latin typeface="Cambria" pitchFamily="18" charset="0"/>
                <a:ea typeface="Cambria" pitchFamily="18" charset="0"/>
              </a:rPr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6807" y="1734293"/>
            <a:ext cx="9116604" cy="4734769"/>
          </a:xfrm>
        </p:spPr>
        <p:txBody>
          <a:bodyPr>
            <a:noAutofit/>
          </a:bodyPr>
          <a:lstStyle/>
          <a:p>
            <a:pPr marL="0" indent="0" algn="just"/>
            <a:r>
              <a:rPr lang="en-US" sz="1800" b="1" dirty="0" smtClean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 Technology Stack: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Uses Deep Learning,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ResNet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,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MediaPipe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,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OpenCV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, and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PyAutoGUI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for gesture-based control.</a:t>
            </a:r>
          </a:p>
          <a:p>
            <a:pPr marL="0" indent="0" algn="just"/>
            <a:r>
              <a:rPr lang="en-US" sz="1800" b="1" dirty="0" smtClean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 Real-Time Tracking</a:t>
            </a:r>
            <a:r>
              <a:rPr lang="en-US" sz="1800" dirty="0" smtClean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: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Captures video frames via a webcam and converts them from BGR to RGB for processing.</a:t>
            </a:r>
          </a:p>
          <a:p>
            <a:pPr marL="0" indent="0" algn="just"/>
            <a:r>
              <a:rPr lang="en-US" sz="1800" b="1" dirty="0" smtClean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 Hand Landmark Detection</a:t>
            </a:r>
            <a:r>
              <a:rPr lang="en-US" sz="1800" dirty="0" smtClean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: 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MediaPipe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identifies 21 key landmarks for accurate gesture recognition.</a:t>
            </a:r>
          </a:p>
          <a:p>
            <a:pPr marL="0" indent="0" algn="just"/>
            <a:r>
              <a:rPr lang="en-US" sz="1800" b="1" dirty="0" smtClean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 Mouse Control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: 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PyAutoGUI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translates gestures into cursor movement and click actions.</a:t>
            </a:r>
          </a:p>
          <a:p>
            <a:pPr marL="0" indent="0" algn="just"/>
            <a:r>
              <a:rPr lang="en-US" sz="1800" b="1" dirty="0" smtClean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 Accessibility &amp; Efficiency: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Hands-free control using a standard webcam, making it cost-effective and user-friendly.</a:t>
            </a:r>
          </a:p>
          <a:p>
            <a:pPr marL="0" indent="0" algn="just"/>
            <a:r>
              <a:rPr lang="en-US" sz="1800" b="1" dirty="0" smtClean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 No Physical Input Required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: Enables a completely touchless computing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10</a:t>
            </a:fld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712C1D-4210-5560-59C8-6A7C5BE2E871}"/>
              </a:ext>
            </a:extLst>
          </p:cNvPr>
          <p:cNvCxnSpPr/>
          <p:nvPr/>
        </p:nvCxnSpPr>
        <p:spPr>
          <a:xfrm>
            <a:off x="524787" y="1066131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window_tab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29351" y="2849079"/>
            <a:ext cx="2151971" cy="17430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webcam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933272" y="1405288"/>
            <a:ext cx="1214923" cy="68339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9" name="Straight Arrow Connector 8"/>
          <p:cNvCxnSpPr/>
          <p:nvPr/>
        </p:nvCxnSpPr>
        <p:spPr>
          <a:xfrm>
            <a:off x="10549288" y="2204185"/>
            <a:ext cx="9626" cy="5582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Mouse_Moving-Photoroom-Photoroom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673389" y="3012707"/>
            <a:ext cx="2098307" cy="1700828"/>
          </a:xfrm>
          <a:prstGeom prst="rect">
            <a:avLst/>
          </a:prstGeom>
        </p:spPr>
      </p:pic>
      <p:pic>
        <p:nvPicPr>
          <p:cNvPr id="11" name="Picture 10" descr="mouse_cursor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20730511">
            <a:off x="10463060" y="5570936"/>
            <a:ext cx="414410" cy="369138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>
            <a:off x="10578164" y="4831882"/>
            <a:ext cx="9625" cy="6641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002" y="-192054"/>
            <a:ext cx="6043703" cy="1258185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Cambria" pitchFamily="18" charset="0"/>
                <a:ea typeface="Cambria" pitchFamily="18" charset="0"/>
              </a:rPr>
              <a:t>Methodology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002" y="1549667"/>
            <a:ext cx="10345256" cy="5447900"/>
          </a:xfrm>
        </p:spPr>
        <p:txBody>
          <a:bodyPr/>
          <a:lstStyle/>
          <a:p>
            <a:pPr algn="just"/>
            <a:r>
              <a:rPr lang="en-US" sz="1900" dirty="0" smtClean="0">
                <a:latin typeface="Cambria" pitchFamily="18" charset="0"/>
                <a:ea typeface="Cambria" pitchFamily="18" charset="0"/>
              </a:rPr>
              <a:t>Our project follows a structured approach to implementing a </a:t>
            </a:r>
            <a:r>
              <a:rPr lang="en-US" sz="1900" b="1" dirty="0" smtClean="0">
                <a:latin typeface="Cambria" pitchFamily="18" charset="0"/>
                <a:ea typeface="Cambria" pitchFamily="18" charset="0"/>
              </a:rPr>
              <a:t>gesture-based virtual mouse system</a:t>
            </a:r>
            <a:r>
              <a:rPr lang="en-US" sz="1900" dirty="0" smtClean="0">
                <a:latin typeface="Cambria" pitchFamily="18" charset="0"/>
                <a:ea typeface="Cambria" pitchFamily="18" charset="0"/>
              </a:rPr>
              <a:t> using </a:t>
            </a:r>
            <a:r>
              <a:rPr lang="en-US" sz="1900" b="1" dirty="0" smtClean="0">
                <a:latin typeface="Cambria" pitchFamily="18" charset="0"/>
                <a:ea typeface="Cambria" pitchFamily="18" charset="0"/>
              </a:rPr>
              <a:t>Deep Learning, </a:t>
            </a:r>
            <a:r>
              <a:rPr lang="en-US" sz="1900" b="1" dirty="0" err="1" smtClean="0">
                <a:latin typeface="Cambria" pitchFamily="18" charset="0"/>
                <a:ea typeface="Cambria" pitchFamily="18" charset="0"/>
              </a:rPr>
              <a:t>ResNet</a:t>
            </a:r>
            <a:r>
              <a:rPr lang="en-US" sz="1900" b="1" dirty="0" smtClean="0">
                <a:latin typeface="Cambria" pitchFamily="18" charset="0"/>
                <a:ea typeface="Cambria" pitchFamily="18" charset="0"/>
              </a:rPr>
              <a:t>, </a:t>
            </a:r>
            <a:r>
              <a:rPr lang="en-US" sz="1900" b="1" dirty="0" err="1" smtClean="0">
                <a:latin typeface="Cambria" pitchFamily="18" charset="0"/>
                <a:ea typeface="Cambria" pitchFamily="18" charset="0"/>
              </a:rPr>
              <a:t>MediaPipe</a:t>
            </a:r>
            <a:r>
              <a:rPr lang="en-US" sz="1900" b="1" dirty="0" smtClean="0">
                <a:latin typeface="Cambria" pitchFamily="18" charset="0"/>
                <a:ea typeface="Cambria" pitchFamily="18" charset="0"/>
              </a:rPr>
              <a:t>, and </a:t>
            </a:r>
            <a:r>
              <a:rPr lang="en-US" sz="1900" b="1" dirty="0" err="1" smtClean="0">
                <a:latin typeface="Cambria" pitchFamily="18" charset="0"/>
                <a:ea typeface="Cambria" pitchFamily="18" charset="0"/>
              </a:rPr>
              <a:t>OpenCV</a:t>
            </a:r>
            <a:r>
              <a:rPr lang="en-US" sz="1900" dirty="0" smtClean="0">
                <a:latin typeface="Cambria" pitchFamily="18" charset="0"/>
                <a:ea typeface="Cambria" pitchFamily="18" charset="0"/>
              </a:rPr>
              <a:t>. The methodology includes four key phases:</a:t>
            </a:r>
          </a:p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Our project has following steps : </a:t>
            </a:r>
          </a:p>
          <a:p>
            <a:pPr marL="566738" indent="-566738"/>
            <a:r>
              <a:rPr lang="en-US" dirty="0" smtClean="0">
                <a:latin typeface="Cambria" pitchFamily="18" charset="0"/>
                <a:ea typeface="Cambria" pitchFamily="18" charset="0"/>
              </a:rPr>
              <a:t>Capturing (Input Acquisition)</a:t>
            </a:r>
          </a:p>
          <a:p>
            <a:pPr marL="566738" indent="-566738"/>
            <a:r>
              <a:rPr lang="en-US" dirty="0" smtClean="0">
                <a:latin typeface="Cambria" pitchFamily="18" charset="0"/>
                <a:ea typeface="Cambria" pitchFamily="18" charset="0"/>
              </a:rPr>
              <a:t>Processing (Preprocessing &amp; Feature Extraction)</a:t>
            </a:r>
          </a:p>
          <a:p>
            <a:pPr marL="566738" indent="-566738"/>
            <a:r>
              <a:rPr lang="en-US" dirty="0" smtClean="0">
                <a:latin typeface="Cambria" pitchFamily="18" charset="0"/>
                <a:ea typeface="Cambria" pitchFamily="18" charset="0"/>
              </a:rPr>
              <a:t>Detecting (Gesture Recognition &amp; Mapping)</a:t>
            </a:r>
          </a:p>
          <a:p>
            <a:pPr marL="566738" indent="-566738"/>
            <a:r>
              <a:rPr lang="en-US" dirty="0" smtClean="0">
                <a:latin typeface="Cambria" pitchFamily="18" charset="0"/>
                <a:ea typeface="Cambria" pitchFamily="18" charset="0"/>
              </a:rPr>
              <a:t>Tracking &amp; Control (Hand Gesture to Mouse Control)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11</a:t>
            </a:fld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712C1D-4210-5560-59C8-6A7C5BE2E871}"/>
              </a:ext>
            </a:extLst>
          </p:cNvPr>
          <p:cNvCxnSpPr/>
          <p:nvPr/>
        </p:nvCxnSpPr>
        <p:spPr>
          <a:xfrm>
            <a:off x="524787" y="1066131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12</a:t>
            </a:fld>
            <a:endParaRPr lang="en-IN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1515" y="502921"/>
            <a:ext cx="8102989" cy="56692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Rectangle 4"/>
          <p:cNvSpPr/>
          <p:nvPr/>
        </p:nvSpPr>
        <p:spPr>
          <a:xfrm>
            <a:off x="4048059" y="6298464"/>
            <a:ext cx="3546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Flow chart of Proposed System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111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310" y="592325"/>
            <a:ext cx="10709030" cy="2713583"/>
          </a:xfr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1. Capturing (Input Acquisition)</a:t>
            </a:r>
          </a:p>
          <a:p>
            <a:r>
              <a:rPr lang="en-US" sz="1800" dirty="0" smtClean="0">
                <a:latin typeface="Cambria" pitchFamily="18" charset="0"/>
                <a:ea typeface="Cambria" pitchFamily="18" charset="0"/>
              </a:rPr>
              <a:t>The system uses a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built-in webcam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to continuously capture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video frames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in real-time to check the presence of a hand.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Frames are read using </a:t>
            </a:r>
            <a:r>
              <a:rPr lang="en-US" sz="1800" b="1" dirty="0" err="1" smtClean="0">
                <a:latin typeface="Cambria" pitchFamily="18" charset="0"/>
                <a:ea typeface="Cambria" pitchFamily="18" charset="0"/>
              </a:rPr>
              <a:t>OpenCV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(reads images in BGR (Blue-Green-Red) and converted from BGR to RGB (Red-Green-Blue) to ensure compatibility with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deep learning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13</a:t>
            </a:fld>
            <a:endParaRPr lang="en-IN" dirty="0"/>
          </a:p>
        </p:txBody>
      </p:sp>
      <p:pic>
        <p:nvPicPr>
          <p:cNvPr id="6" name="Picture 5" descr="webcam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46719" y="2231288"/>
            <a:ext cx="2600811" cy="1327838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376310" y="3305908"/>
            <a:ext cx="10709031" cy="2866292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</a:pPr>
            <a:r>
              <a:rPr lang="en-US" sz="2000" dirty="0" smtClean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2. </a:t>
            </a:r>
            <a:r>
              <a:rPr lang="en-US" sz="2200" dirty="0" smtClean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Processing (Preprocessing &amp; Feature Extraction)</a:t>
            </a:r>
            <a:endParaRPr lang="en-US" sz="2200" spc="10" dirty="0" smtClean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  <a:p>
            <a:pPr marL="182880" indent="-182880" defTabSz="914400">
              <a:lnSpc>
                <a:spcPct val="12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pc="10" dirty="0" err="1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OpenCV</a:t>
            </a:r>
            <a:r>
              <a:rPr lang="en-US" spc="1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enhances hand detection by </a:t>
            </a:r>
            <a:r>
              <a:rPr lang="en-US" b="1" spc="1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reducing blurriness</a:t>
            </a:r>
            <a:r>
              <a:rPr lang="en-US" spc="1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, and improving  image clarity.</a:t>
            </a:r>
          </a:p>
          <a:p>
            <a:pPr marL="182880" indent="-182880" defTabSz="914400">
              <a:lnSpc>
                <a:spcPct val="12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pc="10" dirty="0" err="1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MediaPipe</a:t>
            </a:r>
            <a:r>
              <a:rPr lang="en-US" spc="1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Hand Tracking extracts </a:t>
            </a:r>
            <a:r>
              <a:rPr lang="en-US" b="1" spc="1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21 key landmarks </a:t>
            </a:r>
            <a:r>
              <a:rPr lang="en-US" spc="1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from the hand.</a:t>
            </a:r>
          </a:p>
          <a:p>
            <a:pPr marL="182880" indent="-182880" defTabSz="914400">
              <a:lnSpc>
                <a:spcPct val="12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b="1" spc="10" dirty="0" err="1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ResNet</a:t>
            </a:r>
            <a:r>
              <a:rPr lang="en-US" spc="1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is used for detecting the “No Action” state (idle mouse position).</a:t>
            </a:r>
            <a:endParaRPr kumimoji="0" lang="en-US" b="0" i="0" u="none" strike="noStrike" kern="1200" cap="none" spc="1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525686" y="378347"/>
            <a:ext cx="10517451" cy="3185962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/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</a:pPr>
            <a:r>
              <a:rPr lang="en-US" sz="2000" dirty="0" smtClean="0">
                <a:solidFill>
                  <a:srgbClr val="0070C0"/>
                </a:solidFill>
              </a:rPr>
              <a:t>3. </a:t>
            </a:r>
            <a:r>
              <a:rPr lang="en-US" sz="2000" dirty="0" smtClean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Detecting (Gesture Recognition &amp; Mapping)</a:t>
            </a:r>
          </a:p>
          <a:p>
            <a:pPr marL="182880" indent="-182880" defTabSz="914400">
              <a:lnSpc>
                <a:spcPct val="12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1900" dirty="0" err="1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MediaPipe</a:t>
            </a:r>
            <a:r>
              <a:rPr lang="en-US" sz="19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identifies hand landmarks, including  fingertips and knuckles.</a:t>
            </a: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</a:pPr>
            <a:r>
              <a:rPr lang="en-US" sz="19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The system recognizes gestures such as:</a:t>
            </a: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19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Cursor movement</a:t>
            </a: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19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Left click, Right click, Double click</a:t>
            </a: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19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Volume and brightness control</a:t>
            </a: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19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Drag and drop operations etc..</a:t>
            </a:r>
          </a:p>
        </p:txBody>
      </p:sp>
      <p:pic>
        <p:nvPicPr>
          <p:cNvPr id="4" name="Picture 3" descr="hand gestur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37473" y="1155988"/>
            <a:ext cx="1790700" cy="1630680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525686" y="3657600"/>
            <a:ext cx="10517451" cy="2658794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</a:pPr>
            <a:r>
              <a:rPr lang="en-US" sz="1900" dirty="0" smtClean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4. Tracking &amp; Control (Hand Gesture to Mouse Control)</a:t>
            </a:r>
            <a:endParaRPr lang="en-US" sz="1900" spc="10" dirty="0" smtClean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  <a:p>
            <a:pPr marL="182880" indent="-182880" defTabSz="914400">
              <a:lnSpc>
                <a:spcPct val="12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pc="10" dirty="0" err="1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PyAutoGUI</a:t>
            </a:r>
            <a:r>
              <a:rPr lang="en-US" spc="1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translates recognized gestures into mouse actions (cursor movement, clicking, dragging, etc.).</a:t>
            </a:r>
          </a:p>
          <a:p>
            <a:pPr marL="182880" indent="-182880" defTabSz="914400">
              <a:lnSpc>
                <a:spcPct val="12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pc="1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The system continuously updates the cursor position based on hand motion.</a:t>
            </a:r>
          </a:p>
          <a:p>
            <a:pPr marL="182880" indent="-182880" defTabSz="914400">
              <a:lnSpc>
                <a:spcPct val="12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pc="1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Users can interact with the system without a physical mouse, improving accessibility and usability.</a:t>
            </a:r>
            <a:endParaRPr kumimoji="0" lang="en-US" b="0" i="0" u="none" strike="noStrike" kern="1200" cap="none" spc="1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6" name="Picture 5" descr="mouse_cursor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19931281">
            <a:off x="10200359" y="4757471"/>
            <a:ext cx="515352" cy="45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591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854" y="406773"/>
            <a:ext cx="7699248" cy="1154741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Cambria" pitchFamily="18" charset="0"/>
                <a:ea typeface="Cambria" pitchFamily="18" charset="0"/>
              </a:rPr>
              <a:t>Algorithm &amp; Libraries</a:t>
            </a:r>
            <a:br>
              <a:rPr lang="en-US" sz="3600" dirty="0" smtClean="0">
                <a:latin typeface="Cambria" pitchFamily="18" charset="0"/>
                <a:ea typeface="Cambria" pitchFamily="18" charset="0"/>
              </a:rPr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230" y="1366787"/>
            <a:ext cx="10449112" cy="4351337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</a:rPr>
              <a:t>Algorithm :</a:t>
            </a:r>
          </a:p>
          <a:p>
            <a:r>
              <a:rPr lang="en-US" sz="1900" b="1" dirty="0" smtClean="0">
                <a:latin typeface="Cambria" pitchFamily="18" charset="0"/>
                <a:ea typeface="Cambria" pitchFamily="18" charset="0"/>
              </a:rPr>
              <a:t>ResNet-18</a:t>
            </a:r>
            <a:r>
              <a:rPr lang="en-US" sz="1900" dirty="0" smtClean="0">
                <a:latin typeface="Cambria" pitchFamily="18" charset="0"/>
                <a:ea typeface="Cambria" pitchFamily="18" charset="0"/>
              </a:rPr>
              <a:t>, based on the Residual Neural Network (</a:t>
            </a:r>
            <a:r>
              <a:rPr lang="en-US" sz="1900" dirty="0" err="1" smtClean="0">
                <a:latin typeface="Cambria" pitchFamily="18" charset="0"/>
                <a:ea typeface="Cambria" pitchFamily="18" charset="0"/>
              </a:rPr>
              <a:t>ResNet</a:t>
            </a:r>
            <a:r>
              <a:rPr lang="en-US" sz="1900" dirty="0" smtClean="0">
                <a:latin typeface="Cambria" pitchFamily="18" charset="0"/>
                <a:ea typeface="Cambria" pitchFamily="18" charset="0"/>
              </a:rPr>
              <a:t>) architecture, uses skip connections to improve deep learning performance and project trained on the </a:t>
            </a:r>
            <a:r>
              <a:rPr lang="en-US" sz="1900" dirty="0" err="1" smtClean="0">
                <a:latin typeface="Cambria" pitchFamily="18" charset="0"/>
                <a:ea typeface="Cambria" pitchFamily="18" charset="0"/>
              </a:rPr>
              <a:t>ImageNet</a:t>
            </a:r>
            <a:r>
              <a:rPr lang="en-US" sz="1900" dirty="0" smtClean="0">
                <a:latin typeface="Cambria" pitchFamily="18" charset="0"/>
                <a:ea typeface="Cambria" pitchFamily="18" charset="0"/>
              </a:rPr>
              <a:t> dataset.</a:t>
            </a:r>
          </a:p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</a:rPr>
              <a:t>Libraries :</a:t>
            </a:r>
            <a:endParaRPr lang="en-US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900" b="1" dirty="0" err="1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OpenCV</a:t>
            </a:r>
            <a:r>
              <a:rPr lang="en-US" sz="19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– For real-time video processing</a:t>
            </a:r>
          </a:p>
          <a:p>
            <a:r>
              <a:rPr lang="en-US" sz="1900" b="1" dirty="0" err="1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MediaPipe</a:t>
            </a:r>
            <a:r>
              <a:rPr lang="en-US" sz="19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– For hand tracking and gesture detection</a:t>
            </a:r>
          </a:p>
          <a:p>
            <a:r>
              <a:rPr lang="en-US" sz="1900" b="1" dirty="0" err="1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PyAutoGUI</a:t>
            </a:r>
            <a:r>
              <a:rPr lang="en-US" sz="19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– For controlling mouse actions</a:t>
            </a:r>
          </a:p>
          <a:p>
            <a:r>
              <a:rPr lang="en-US" sz="1900" b="1" dirty="0" err="1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PyTorch</a:t>
            </a:r>
            <a:r>
              <a:rPr lang="en-US" sz="19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– For deep learning-based gesture classification</a:t>
            </a:r>
          </a:p>
          <a:p>
            <a:r>
              <a:rPr lang="en-US" sz="1900" b="1" dirty="0" err="1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PyCAW</a:t>
            </a:r>
            <a:r>
              <a:rPr lang="en-US" sz="19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sz="19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– For volume control</a:t>
            </a:r>
          </a:p>
          <a:p>
            <a:r>
              <a:rPr lang="en-US" sz="1900" b="1" dirty="0" err="1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screen_brightness_control</a:t>
            </a:r>
            <a:r>
              <a:rPr lang="en-US" sz="19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– For brightness adjustment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15</a:t>
            </a:fld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712C1D-4210-5560-59C8-6A7C5BE2E871}"/>
              </a:ext>
            </a:extLst>
          </p:cNvPr>
          <p:cNvCxnSpPr/>
          <p:nvPr/>
        </p:nvCxnSpPr>
        <p:spPr>
          <a:xfrm>
            <a:off x="524787" y="1066131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022" y="323850"/>
            <a:ext cx="9692640" cy="795972"/>
          </a:xfrm>
        </p:spPr>
        <p:txBody>
          <a:bodyPr/>
          <a:lstStyle/>
          <a:p>
            <a:r>
              <a:rPr lang="en-US" sz="3600" dirty="0" smtClean="0"/>
              <a:t>Dataset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572" y="1725929"/>
            <a:ext cx="10491978" cy="3768725"/>
          </a:xfrm>
        </p:spPr>
        <p:txBody>
          <a:bodyPr/>
          <a:lstStyle/>
          <a:p>
            <a:pPr algn="just"/>
            <a:r>
              <a:rPr lang="en-US" dirty="0"/>
              <a:t>We used </a:t>
            </a:r>
            <a:r>
              <a:rPr lang="en-US" b="1" dirty="0"/>
              <a:t>custom real-time video frame data</a:t>
            </a:r>
            <a:r>
              <a:rPr lang="en-US" dirty="0"/>
              <a:t> captured using a webcam.</a:t>
            </a:r>
          </a:p>
          <a:p>
            <a:pPr algn="just"/>
            <a:r>
              <a:rPr lang="en-US" dirty="0"/>
              <a:t>Pre-trained </a:t>
            </a:r>
            <a:r>
              <a:rPr lang="en-US" b="1" dirty="0"/>
              <a:t>ImageNet dataset</a:t>
            </a:r>
            <a:r>
              <a:rPr lang="en-US" dirty="0"/>
              <a:t> was used for initializing ResNet-18.</a:t>
            </a:r>
          </a:p>
          <a:p>
            <a:pPr algn="just"/>
            <a:r>
              <a:rPr lang="en-US" dirty="0"/>
              <a:t>Real-time data was processed on-the-fly using </a:t>
            </a:r>
            <a:r>
              <a:rPr lang="en-US" b="1" dirty="0" err="1"/>
              <a:t>OpenCV</a:t>
            </a:r>
            <a:r>
              <a:rPr lang="en-US" dirty="0"/>
              <a:t> and </a:t>
            </a:r>
            <a:r>
              <a:rPr lang="en-US" b="1" dirty="0" err="1"/>
              <a:t>MediaPipe</a:t>
            </a:r>
            <a:r>
              <a:rPr lang="en-US" dirty="0"/>
              <a:t> for hand landmark extraction.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16</a:t>
            </a:fld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712C1D-4210-5560-59C8-6A7C5BE2E871}"/>
              </a:ext>
            </a:extLst>
          </p:cNvPr>
          <p:cNvCxnSpPr/>
          <p:nvPr/>
        </p:nvCxnSpPr>
        <p:spPr>
          <a:xfrm>
            <a:off x="524787" y="1191259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393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672" y="190500"/>
            <a:ext cx="9692640" cy="79597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Implementation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672" y="1524000"/>
            <a:ext cx="10363200" cy="4351337"/>
          </a:xfrm>
        </p:spPr>
        <p:txBody>
          <a:bodyPr/>
          <a:lstStyle/>
          <a:p>
            <a:r>
              <a:rPr lang="en-IN" b="1" dirty="0" smtClean="0"/>
              <a:t>Language </a:t>
            </a:r>
            <a:r>
              <a:rPr lang="en-IN" b="1" dirty="0"/>
              <a:t>Used:</a:t>
            </a:r>
            <a:r>
              <a:rPr lang="en-IN" dirty="0"/>
              <a:t> Python</a:t>
            </a:r>
          </a:p>
          <a:p>
            <a:r>
              <a:rPr lang="en-IN" b="1" dirty="0"/>
              <a:t>Libraries Used:</a:t>
            </a:r>
            <a:r>
              <a:rPr lang="en-IN" dirty="0"/>
              <a:t> </a:t>
            </a:r>
            <a:r>
              <a:rPr lang="en-IN" dirty="0" err="1"/>
              <a:t>OpenCV</a:t>
            </a:r>
            <a:r>
              <a:rPr lang="en-IN" dirty="0"/>
              <a:t>, </a:t>
            </a:r>
            <a:r>
              <a:rPr lang="en-IN" dirty="0" err="1"/>
              <a:t>MediaPipe</a:t>
            </a:r>
            <a:r>
              <a:rPr lang="en-IN" dirty="0"/>
              <a:t>, </a:t>
            </a:r>
            <a:r>
              <a:rPr lang="en-IN" dirty="0" err="1"/>
              <a:t>PyTorch</a:t>
            </a:r>
            <a:r>
              <a:rPr lang="en-IN" dirty="0"/>
              <a:t>, </a:t>
            </a:r>
            <a:r>
              <a:rPr lang="en-IN" dirty="0" err="1"/>
              <a:t>PyAutoGUI</a:t>
            </a:r>
            <a:r>
              <a:rPr lang="en-IN" dirty="0"/>
              <a:t>, </a:t>
            </a:r>
            <a:r>
              <a:rPr lang="en-IN" dirty="0" err="1"/>
              <a:t>PyCAW</a:t>
            </a:r>
            <a:endParaRPr lang="en-IN" dirty="0"/>
          </a:p>
          <a:p>
            <a:r>
              <a:rPr lang="en-IN" b="1" dirty="0"/>
              <a:t>Steps:</a:t>
            </a:r>
            <a:endParaRPr lang="en-IN" dirty="0"/>
          </a:p>
          <a:p>
            <a:pPr lvl="1"/>
            <a:r>
              <a:rPr lang="en-IN" dirty="0"/>
              <a:t>Capture video stream from webcam.</a:t>
            </a:r>
          </a:p>
          <a:p>
            <a:pPr lvl="1"/>
            <a:r>
              <a:rPr lang="en-IN" dirty="0"/>
              <a:t>Process each frame using </a:t>
            </a:r>
            <a:r>
              <a:rPr lang="en-IN" dirty="0" err="1"/>
              <a:t>MediaPipe</a:t>
            </a:r>
            <a:r>
              <a:rPr lang="en-IN" dirty="0"/>
              <a:t> for hand tracking.</a:t>
            </a:r>
          </a:p>
          <a:p>
            <a:pPr lvl="1"/>
            <a:r>
              <a:rPr lang="en-IN" dirty="0"/>
              <a:t>Recognize gestures using </a:t>
            </a:r>
            <a:r>
              <a:rPr lang="en-IN" dirty="0" err="1"/>
              <a:t>ResNet</a:t>
            </a:r>
            <a:r>
              <a:rPr lang="en-IN" dirty="0"/>
              <a:t> model.</a:t>
            </a:r>
          </a:p>
          <a:p>
            <a:pPr lvl="1"/>
            <a:r>
              <a:rPr lang="en-IN" dirty="0"/>
              <a:t>Map gestures to cursor actions using </a:t>
            </a:r>
            <a:r>
              <a:rPr lang="en-IN" dirty="0" err="1"/>
              <a:t>PyAutoGUI</a:t>
            </a:r>
            <a:r>
              <a:rPr lang="en-IN" dirty="0" smtClean="0"/>
              <a:t>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17</a:t>
            </a:fld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712C1D-4210-5560-59C8-6A7C5BE2E871}"/>
              </a:ext>
            </a:extLst>
          </p:cNvPr>
          <p:cNvCxnSpPr/>
          <p:nvPr/>
        </p:nvCxnSpPr>
        <p:spPr>
          <a:xfrm>
            <a:off x="524787" y="1066131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017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973" y="0"/>
            <a:ext cx="10134439" cy="78779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Operations of our </a:t>
            </a:r>
            <a:r>
              <a:rPr lang="en-US" sz="3600" dirty="0"/>
              <a:t>T</a:t>
            </a:r>
            <a:r>
              <a:rPr lang="en-US" sz="3600" dirty="0" smtClean="0"/>
              <a:t>ouchless mouse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18</a:t>
            </a:fld>
            <a:endParaRPr lang="en-IN" dirty="0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7870258"/>
              </p:ext>
            </p:extLst>
          </p:nvPr>
        </p:nvGraphicFramePr>
        <p:xfrm>
          <a:off x="185906" y="936508"/>
          <a:ext cx="10970636" cy="5705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4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9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43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b="1" spc="-5" dirty="0" smtClean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S. No</a:t>
                      </a:r>
                      <a:endParaRPr lang="en-US" sz="1600" spc="-5" dirty="0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b="1" spc="-5" dirty="0" err="1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Touchless</a:t>
                      </a:r>
                      <a:r>
                        <a:rPr lang="en-US" sz="1600" b="1" spc="-5" dirty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 Mouse Operations</a:t>
                      </a:r>
                      <a:endParaRPr lang="en-US" sz="1600" spc="-5" dirty="0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b="1" spc="-5" dirty="0" smtClean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                  Hand </a:t>
                      </a:r>
                      <a:r>
                        <a:rPr lang="en-US" sz="1600" b="1" spc="-5" dirty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Gesture </a:t>
                      </a:r>
                      <a:r>
                        <a:rPr lang="en-US" sz="1600" b="1" spc="-5" dirty="0" smtClean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Description</a:t>
                      </a:r>
                      <a:endParaRPr lang="en-US" sz="1600" spc="-5" dirty="0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b="1" spc="-5" dirty="0" smtClean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                             Functionality</a:t>
                      </a:r>
                      <a:endParaRPr lang="en-US" sz="1600" spc="-5" dirty="0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3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 dirty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No Action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x-none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all fingers open (opening hand)</a:t>
                      </a:r>
                      <a:endParaRPr lang="en-US" sz="1600" spc="-5" dirty="0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x-none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No operation performed</a:t>
                      </a:r>
                      <a:endParaRPr lang="en-US" sz="1600" spc="-5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3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Cursor Movement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x-none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Index and middle fingers open, remaining fingers closed</a:t>
                      </a:r>
                      <a:endParaRPr lang="en-US" sz="1600" spc="-5" dirty="0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x-none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Moves the cursor based on hand movement</a:t>
                      </a:r>
                      <a:endParaRPr lang="en-US" sz="1600" spc="-5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3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 dirty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 dirty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Left Click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x-none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In the cursor movement pose, the index finger is closed, and only the middle finger open</a:t>
                      </a:r>
                      <a:endParaRPr lang="en-US" sz="1600" spc="-5" dirty="0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 dirty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Performs left click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3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 dirty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Right Click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x-none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In the cursor movement pose, the middle finger is closed, index finger open</a:t>
                      </a:r>
                      <a:endParaRPr lang="en-US" sz="1600" spc="-5" dirty="0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 dirty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Performs right click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3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Double Click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x-none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In cursor movement pose, both index and middle fingers closed together</a:t>
                      </a:r>
                      <a:endParaRPr lang="en-US" sz="1600" spc="-5" dirty="0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 dirty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Performs double click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3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 dirty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 dirty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Brightness control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x-none" sz="1600" spc="-5" dirty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Thumb and index </a:t>
                      </a:r>
                      <a:r>
                        <a:rPr lang="x-none" sz="1600" spc="-5" dirty="0" smtClean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finger</a:t>
                      </a:r>
                      <a:r>
                        <a:rPr lang="en-US" sz="1600" spc="-5" dirty="0" smtClean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tips</a:t>
                      </a:r>
                      <a:r>
                        <a:rPr lang="en-US" sz="1600" spc="-5" baseline="0" dirty="0" smtClean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 are touched together</a:t>
                      </a:r>
                      <a:r>
                        <a:rPr lang="x-none" sz="1600" spc="-5" dirty="0" smtClean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, </a:t>
                      </a:r>
                      <a:r>
                        <a:rPr lang="x-none" sz="1600" spc="-5" dirty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remaining fingers </a:t>
                      </a:r>
                      <a:r>
                        <a:rPr lang="x-none" sz="1600" spc="-5" dirty="0" smtClean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closed</a:t>
                      </a:r>
                      <a:r>
                        <a:rPr lang="en-US" sz="1600" spc="-5" dirty="0" smtClean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.</a:t>
                      </a:r>
                      <a:endParaRPr lang="en-US" sz="1600" spc="-5" dirty="0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x-none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Moving left decreases brightness, and moving right increases brightness</a:t>
                      </a:r>
                      <a:endParaRPr lang="en-US" sz="1600" spc="-5" dirty="0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43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 dirty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Volume Control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182880" algn="l"/>
                        </a:tabLst>
                        <a:defRPr/>
                      </a:pPr>
                      <a:r>
                        <a:rPr lang="x-none" sz="1600" spc="-5" dirty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The thumb and index </a:t>
                      </a:r>
                      <a:r>
                        <a:rPr lang="x-none" sz="1600" spc="-5" dirty="0" smtClean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finger</a:t>
                      </a:r>
                      <a:r>
                        <a:rPr lang="en-US" sz="1600" spc="-5" dirty="0" smtClean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tips are touched together,</a:t>
                      </a:r>
                      <a:r>
                        <a:rPr lang="x-none" sz="1600" spc="-5" dirty="0" smtClean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 remaining fingers closed</a:t>
                      </a:r>
                      <a:r>
                        <a:rPr lang="en-US" sz="1600" spc="-5" dirty="0" smtClean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x-none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Moving upwards increases volume, and moving downwards decreases volume­</a:t>
                      </a:r>
                      <a:endParaRPr lang="en-US" sz="1600" spc="-5" dirty="0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4512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Drag and Drop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x-none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After double-clicking a file, closing all fingers to select the file, moving the closed hand to drag it, and opening all fingers </a:t>
                      </a:r>
                      <a:r>
                        <a:rPr lang="en-US" sz="1600" spc="-5" dirty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to </a:t>
                      </a:r>
                      <a:r>
                        <a:rPr lang="x-none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drop it</a:t>
                      </a:r>
                      <a:endParaRPr lang="en-US" sz="1600" spc="-5" dirty="0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x-none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Selects and moves files using gestures</a:t>
                      </a:r>
                      <a:endParaRPr lang="en-US" sz="1600" spc="-5" dirty="0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943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en-US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Multiple File Selection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x-none" sz="1600" spc="-5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Double-click on an empty space in the files area</a:t>
                      </a:r>
                      <a:endParaRPr lang="en-US" sz="1600" spc="-5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182880" algn="l"/>
                        </a:tabLst>
                      </a:pPr>
                      <a:r>
                        <a:rPr lang="x-none" sz="1600" spc="-5" dirty="0">
                          <a:latin typeface="Cambria" pitchFamily="18" charset="0"/>
                          <a:ea typeface="Cambria" pitchFamily="18" charset="0"/>
                          <a:cs typeface="Times New Roman"/>
                        </a:rPr>
                        <a:t>Selects multiple files</a:t>
                      </a:r>
                      <a:endParaRPr lang="en-US" sz="1600" spc="-5" dirty="0">
                        <a:latin typeface="Cambria" pitchFamily="18" charset="0"/>
                        <a:ea typeface="Cambria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D24C56-6730-3927-F6EE-C4BBE4B54685}"/>
              </a:ext>
            </a:extLst>
          </p:cNvPr>
          <p:cNvCxnSpPr/>
          <p:nvPr/>
        </p:nvCxnSpPr>
        <p:spPr>
          <a:xfrm>
            <a:off x="385973" y="787791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BD1DD-BEE2-8001-32C2-30739487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19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1CD1713-CB0D-27FF-BD58-605A75217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24" y="-37189"/>
            <a:ext cx="5662653" cy="845047"/>
          </a:xfrm>
        </p:spPr>
        <p:txBody>
          <a:bodyPr>
            <a:normAutofit/>
          </a:bodyPr>
          <a:lstStyle/>
          <a:p>
            <a:r>
              <a:rPr lang="en-US" sz="3600" dirty="0" smtClean="0"/>
              <a:t>Results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D24C56-6730-3927-F6EE-C4BBE4B54685}"/>
              </a:ext>
            </a:extLst>
          </p:cNvPr>
          <p:cNvCxnSpPr/>
          <p:nvPr/>
        </p:nvCxnSpPr>
        <p:spPr>
          <a:xfrm>
            <a:off x="522271" y="808946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Screenshot 2025-02-14 13310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7075" y="1129659"/>
            <a:ext cx="3072714" cy="2375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242" name="Picture 2" descr="C:\Users\saichand.digumarthi\AppData\Local\Temp\ksohtml5632\wps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22487" y="1157400"/>
            <a:ext cx="3076575" cy="23477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244" name="Picture 4" descr="C:\Users\saichand.digumarthi\AppData\Local\Temp\ksohtml5632\wps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11115" y="1176816"/>
            <a:ext cx="3334075" cy="22811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246" name="Picture 6" descr="C:\Users\saichand.digumarthi\AppData\Local\Temp\ksohtml5632\wps3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7075" y="4064385"/>
            <a:ext cx="3029083" cy="21078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248" name="Picture 8" descr="C:\Users\saichand.digumarthi\AppData\Local\Temp\ksohtml5632\wps4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196386" y="4064385"/>
            <a:ext cx="3221590" cy="20878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250" name="Picture 10" descr="C:\Users\saichand.digumarthi\AppData\Local\Temp\ksohtml5632\wps5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751208" y="4064385"/>
            <a:ext cx="3385219" cy="20501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1084831" y="3550663"/>
            <a:ext cx="201399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     No Action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653776" y="3548484"/>
            <a:ext cx="201399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  Mouse moving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36821" y="3525354"/>
            <a:ext cx="201399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      Left-Click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084830" y="6211433"/>
            <a:ext cx="201399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     Right-Click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801651" y="6211433"/>
            <a:ext cx="201399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   Double-Click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515536" y="6211433"/>
            <a:ext cx="201399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   Drag &amp; Drop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095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A4385-0CC1-7055-5446-0A0BFBA3D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788" y="1674796"/>
            <a:ext cx="10480698" cy="4351337"/>
          </a:xfrm>
        </p:spPr>
        <p:txBody>
          <a:bodyPr/>
          <a:lstStyle/>
          <a:p>
            <a:r>
              <a:rPr lang="en-US" b="1" dirty="0" smtClean="0">
                <a:latin typeface="Cambria" pitchFamily="18" charset="0"/>
                <a:ea typeface="Cambria" pitchFamily="18" charset="0"/>
              </a:rPr>
              <a:t>Hands-Free Control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– The system enables seamless interaction with a computer using only hand gestures.</a:t>
            </a:r>
          </a:p>
          <a:p>
            <a:r>
              <a:rPr lang="en-US" b="1" dirty="0" smtClean="0">
                <a:latin typeface="Cambria" pitchFamily="18" charset="0"/>
                <a:ea typeface="Cambria" pitchFamily="18" charset="0"/>
              </a:rPr>
              <a:t>Advanced Technology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– Utilizes ResNet-18, 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MediaPipe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, 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OpenCV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, and 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PyAutoGUI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for accurate gesture recognition.</a:t>
            </a:r>
          </a:p>
          <a:p>
            <a:r>
              <a:rPr lang="en-US" b="1" dirty="0" smtClean="0">
                <a:latin typeface="Cambria" pitchFamily="18" charset="0"/>
                <a:ea typeface="Cambria" pitchFamily="18" charset="0"/>
              </a:rPr>
              <a:t>No Additional Devices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– Eliminates the need for physical devices like gloves or colored markers.</a:t>
            </a:r>
          </a:p>
          <a:p>
            <a:r>
              <a:rPr lang="en-US" b="1" dirty="0" smtClean="0">
                <a:latin typeface="Cambria" pitchFamily="18" charset="0"/>
                <a:ea typeface="Cambria" pitchFamily="18" charset="0"/>
              </a:rPr>
              <a:t>Efficient &amp; User-Friendly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– Provides a simple, fast, and intuitive alternative to the traditional mouse.</a:t>
            </a:r>
          </a:p>
          <a:p>
            <a:r>
              <a:rPr lang="en-US" b="1" dirty="0" smtClean="0">
                <a:latin typeface="Cambria" pitchFamily="18" charset="0"/>
                <a:ea typeface="Cambria" pitchFamily="18" charset="0"/>
              </a:rPr>
              <a:t>Practical Applications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– Useful in offices, hospitals, and classrooms to reduce physical contact and maintain hygiene.</a:t>
            </a:r>
            <a:endParaRPr lang="en-IN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29785-1F02-8B21-5E00-6797D32D4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20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2C83C64-41B0-F65E-81C8-21640CCA3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7" y="346212"/>
            <a:ext cx="5662653" cy="845047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Conclusion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A6264D-46D2-82CA-7C69-A7A802DAF927}"/>
              </a:ext>
            </a:extLst>
          </p:cNvPr>
          <p:cNvCxnSpPr/>
          <p:nvPr/>
        </p:nvCxnSpPr>
        <p:spPr>
          <a:xfrm>
            <a:off x="524787" y="1191259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aptop_curso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290986" y="5143500"/>
            <a:ext cx="1714500" cy="1714500"/>
          </a:xfrm>
          <a:prstGeom prst="rect">
            <a:avLst/>
          </a:prstGeom>
        </p:spPr>
      </p:pic>
      <p:pic>
        <p:nvPicPr>
          <p:cNvPr id="8" name="Picture 7" descr="No_Action-Photoroom-Photoroom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59653" y="5177991"/>
            <a:ext cx="1515500" cy="1347938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8556859" y="5909912"/>
            <a:ext cx="731520" cy="1251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74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275C1-EC0E-D406-3C5A-E5577169E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787" y="1645920"/>
            <a:ext cx="10433538" cy="4351337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 In smart classrooms, presentations can be managed by teachers without touching a mouse or keyboard, ensuring a smoother and more hygienic learning process. </a:t>
            </a:r>
          </a:p>
          <a:p>
            <a:pPr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In gaming, a more immersive experience is provided, allowing players to use hand gestures instead of traditional controllers.</a:t>
            </a:r>
          </a:p>
          <a:p>
            <a:pPr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System enhancements can be introduced by adding more gestures for undo &amp; redo functions, tab switching, screenshot capturing, and copy-paste operations.</a:t>
            </a:r>
          </a:p>
          <a:p>
            <a:pPr algn="just"/>
            <a:r>
              <a:rPr lang="en-US" dirty="0" smtClean="0">
                <a:latin typeface="Cambria" pitchFamily="18" charset="0"/>
                <a:ea typeface="Cambria" pitchFamily="18" charset="0"/>
              </a:rPr>
              <a:t>Software optimization for mobile devices, tablets, and smart TVs is planned to expand gesture control beyond standard computer systems.</a:t>
            </a:r>
          </a:p>
          <a:p>
            <a:pPr algn="just"/>
            <a:endParaRPr lang="en-IN" dirty="0" smtClean="0">
              <a:latin typeface="Cambria" pitchFamily="18" charset="0"/>
              <a:ea typeface="Cambria" pitchFamily="18" charset="0"/>
            </a:endParaRPr>
          </a:p>
          <a:p>
            <a:pPr algn="just"/>
            <a:endParaRPr lang="en-IN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B2FB0-A5BD-BD48-F619-8A474CCD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21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8C0FD9B-8357-8627-D6F2-4B80C72F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7" y="346212"/>
            <a:ext cx="5662653" cy="845047"/>
          </a:xfrm>
        </p:spPr>
        <p:txBody>
          <a:bodyPr>
            <a:normAutofit/>
          </a:bodyPr>
          <a:lstStyle/>
          <a:p>
            <a:r>
              <a:rPr lang="en-US" sz="3600" dirty="0" smtClean="0"/>
              <a:t>Future Work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FF1FE4-3A52-E3AE-69CA-4B534D7D9153}"/>
              </a:ext>
            </a:extLst>
          </p:cNvPr>
          <p:cNvCxnSpPr/>
          <p:nvPr/>
        </p:nvCxnSpPr>
        <p:spPr>
          <a:xfrm>
            <a:off x="524787" y="1191259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134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0AFB8-3927-3D4B-843A-DCBC5713D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787" y="1506060"/>
            <a:ext cx="10342136" cy="4351337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sz="1800" dirty="0" smtClean="0">
                <a:latin typeface="Cambria" pitchFamily="18" charset="0"/>
                <a:ea typeface="Cambria" pitchFamily="18" charset="0"/>
              </a:rPr>
              <a:t>[1] R. </a:t>
            </a:r>
            <a:r>
              <a:rPr lang="en-IN" sz="1800" dirty="0" err="1" smtClean="0">
                <a:latin typeface="Cambria" pitchFamily="18" charset="0"/>
                <a:ea typeface="Cambria" pitchFamily="18" charset="0"/>
              </a:rPr>
              <a:t>Dadlani</a:t>
            </a:r>
            <a:r>
              <a:rPr lang="en-IN" sz="1800" dirty="0" smtClean="0">
                <a:latin typeface="Cambria" pitchFamily="18" charset="0"/>
                <a:ea typeface="Cambria" pitchFamily="18" charset="0"/>
              </a:rPr>
              <a:t>, S. </a:t>
            </a:r>
            <a:r>
              <a:rPr lang="en-IN" sz="1800" dirty="0" err="1" smtClean="0">
                <a:latin typeface="Cambria" pitchFamily="18" charset="0"/>
                <a:ea typeface="Cambria" pitchFamily="18" charset="0"/>
              </a:rPr>
              <a:t>Dumbre</a:t>
            </a:r>
            <a:r>
              <a:rPr lang="en-IN" sz="1800" dirty="0" smtClean="0">
                <a:latin typeface="Cambria" pitchFamily="18" charset="0"/>
                <a:ea typeface="Cambria" pitchFamily="18" charset="0"/>
              </a:rPr>
              <a:t>, S. </a:t>
            </a:r>
            <a:r>
              <a:rPr lang="en-IN" sz="1800" dirty="0" err="1" smtClean="0">
                <a:latin typeface="Cambria" pitchFamily="18" charset="0"/>
                <a:ea typeface="Cambria" pitchFamily="18" charset="0"/>
              </a:rPr>
              <a:t>Mishra</a:t>
            </a:r>
            <a:r>
              <a:rPr lang="en-IN" sz="1800" dirty="0" smtClean="0">
                <a:latin typeface="Cambria" pitchFamily="18" charset="0"/>
                <a:ea typeface="Cambria" pitchFamily="18" charset="0"/>
              </a:rPr>
              <a:t> and A. </a:t>
            </a:r>
            <a:r>
              <a:rPr lang="en-IN" sz="1800" dirty="0" err="1" smtClean="0">
                <a:latin typeface="Cambria" pitchFamily="18" charset="0"/>
                <a:ea typeface="Cambria" pitchFamily="18" charset="0"/>
              </a:rPr>
              <a:t>Tewari</a:t>
            </a:r>
            <a:r>
              <a:rPr lang="en-IN" sz="1800" dirty="0" smtClean="0">
                <a:latin typeface="Cambria" pitchFamily="18" charset="0"/>
                <a:ea typeface="Cambria" pitchFamily="18" charset="0"/>
              </a:rPr>
              <a:t>, “Eyeball Movement Mouse using Hand Gestures," 2021 International Conference on Technological Advancements and Innovations (ICTAI), Tashkent, Uzbekistan, 2021, pp. 340-345, </a:t>
            </a:r>
            <a:r>
              <a:rPr lang="en-IN" sz="1800" dirty="0" err="1" smtClean="0">
                <a:latin typeface="Cambria" pitchFamily="18" charset="0"/>
                <a:ea typeface="Cambria" pitchFamily="18" charset="0"/>
              </a:rPr>
              <a:t>doi</a:t>
            </a:r>
            <a:r>
              <a:rPr lang="en-IN" sz="1800" dirty="0" smtClean="0">
                <a:latin typeface="Cambria" pitchFamily="18" charset="0"/>
                <a:ea typeface="Cambria" pitchFamily="18" charset="0"/>
              </a:rPr>
              <a:t>: 10.1109/ICTAI53825.2021.9673251</a:t>
            </a:r>
            <a:r>
              <a:rPr lang="en-IN" sz="18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smtClean="0">
                <a:latin typeface="Cambria" pitchFamily="18" charset="0"/>
                <a:ea typeface="Cambria" pitchFamily="18" charset="0"/>
              </a:rPr>
              <a:t>[2]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A. Kumar Raja, C.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Sugandhi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, G.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Nymish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, N. Sai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Havish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and M.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Rashmi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, "Face Gesture Based Virtual Mouse Using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Mediapipe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," </a:t>
            </a:r>
            <a:r>
              <a:rPr lang="en-US" sz="1800" i="1" dirty="0" smtClean="0">
                <a:latin typeface="Cambria" pitchFamily="18" charset="0"/>
                <a:ea typeface="Cambria" pitchFamily="18" charset="0"/>
              </a:rPr>
              <a:t>2023 IEEE 8th International Conference for Convergence in Technology (I2CT)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,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Lonavla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, India, 2023, pp. 1-6,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doi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: 10.1109/I2CT57861.2023.10126453.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[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3] V. A. Devi, J. E and K. R, "Enhancing User Interaction: Gesture-Enabled Virtual Cursor with Voice Integration," </a:t>
            </a:r>
            <a:r>
              <a:rPr lang="en-US" sz="1800" i="1" dirty="0" smtClean="0">
                <a:latin typeface="Cambria" pitchFamily="18" charset="0"/>
                <a:ea typeface="Cambria" pitchFamily="18" charset="0"/>
              </a:rPr>
              <a:t>2024 4th International Conference on Pervasive Computing and Social Networking (ICPCSN)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, Salem, India, 2024, pp. 279-286,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doi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: 10.1109/ICPCSN62568.2024.00052.</a:t>
            </a:r>
          </a:p>
          <a:p>
            <a:pPr algn="just">
              <a:spcBef>
                <a:spcPts val="0"/>
              </a:spcBef>
              <a:buNone/>
            </a:pPr>
            <a:r>
              <a:rPr lang="en-IN" sz="1800" dirty="0" smtClean="0">
                <a:latin typeface="Cambria" pitchFamily="18" charset="0"/>
                <a:ea typeface="Cambria" pitchFamily="18" charset="0"/>
              </a:rPr>
              <a:t>[4] R. </a:t>
            </a:r>
            <a:r>
              <a:rPr lang="en-IN" sz="1800" dirty="0" err="1" smtClean="0">
                <a:latin typeface="Cambria" pitchFamily="18" charset="0"/>
                <a:ea typeface="Cambria" pitchFamily="18" charset="0"/>
              </a:rPr>
              <a:t>Matlani</a:t>
            </a:r>
            <a:r>
              <a:rPr lang="en-IN" sz="1800" dirty="0" smtClean="0">
                <a:latin typeface="Cambria" pitchFamily="18" charset="0"/>
                <a:ea typeface="Cambria" pitchFamily="18" charset="0"/>
              </a:rPr>
              <a:t>, R. </a:t>
            </a:r>
            <a:r>
              <a:rPr lang="en-IN" sz="1800" dirty="0" err="1" smtClean="0">
                <a:latin typeface="Cambria" pitchFamily="18" charset="0"/>
                <a:ea typeface="Cambria" pitchFamily="18" charset="0"/>
              </a:rPr>
              <a:t>Dadlani</a:t>
            </a:r>
            <a:r>
              <a:rPr lang="en-IN" sz="1800" dirty="0" smtClean="0">
                <a:latin typeface="Cambria" pitchFamily="18" charset="0"/>
                <a:ea typeface="Cambria" pitchFamily="18" charset="0"/>
              </a:rPr>
              <a:t>, S. </a:t>
            </a:r>
            <a:r>
              <a:rPr lang="en-IN" sz="1800" dirty="0" err="1" smtClean="0">
                <a:latin typeface="Cambria" pitchFamily="18" charset="0"/>
                <a:ea typeface="Cambria" pitchFamily="18" charset="0"/>
              </a:rPr>
              <a:t>Dumbre</a:t>
            </a:r>
            <a:r>
              <a:rPr lang="en-IN" sz="1800" dirty="0" smtClean="0">
                <a:latin typeface="Cambria" pitchFamily="18" charset="0"/>
                <a:ea typeface="Cambria" pitchFamily="18" charset="0"/>
              </a:rPr>
              <a:t>, S. </a:t>
            </a:r>
            <a:r>
              <a:rPr lang="en-IN" sz="1800" dirty="0" err="1" smtClean="0">
                <a:latin typeface="Cambria" pitchFamily="18" charset="0"/>
                <a:ea typeface="Cambria" pitchFamily="18" charset="0"/>
              </a:rPr>
              <a:t>Mishra</a:t>
            </a:r>
            <a:r>
              <a:rPr lang="en-IN" sz="1800" dirty="0" smtClean="0">
                <a:latin typeface="Cambria" pitchFamily="18" charset="0"/>
                <a:ea typeface="Cambria" pitchFamily="18" charset="0"/>
              </a:rPr>
              <a:t> and A. </a:t>
            </a:r>
            <a:r>
              <a:rPr lang="en-IN" sz="1800" dirty="0" err="1" smtClean="0">
                <a:latin typeface="Cambria" pitchFamily="18" charset="0"/>
                <a:ea typeface="Cambria" pitchFamily="18" charset="0"/>
              </a:rPr>
              <a:t>Tewari</a:t>
            </a:r>
            <a:r>
              <a:rPr lang="en-IN" sz="1800" dirty="0" smtClean="0">
                <a:latin typeface="Cambria" pitchFamily="18" charset="0"/>
                <a:ea typeface="Cambria" pitchFamily="18" charset="0"/>
              </a:rPr>
              <a:t>, "Virtual Mouse using Hand Gestures," 2021 International Conference on Technological Advancements and Innovations (ICTAI), Tashkent, Uzbekistan, 2021, pp. 340-345, </a:t>
            </a:r>
            <a:r>
              <a:rPr lang="en-IN" sz="1800" dirty="0" err="1" smtClean="0">
                <a:latin typeface="Cambria" pitchFamily="18" charset="0"/>
                <a:ea typeface="Cambria" pitchFamily="18" charset="0"/>
              </a:rPr>
              <a:t>doi</a:t>
            </a:r>
            <a:r>
              <a:rPr lang="en-IN" sz="1800" dirty="0" smtClean="0">
                <a:latin typeface="Cambria" pitchFamily="18" charset="0"/>
                <a:ea typeface="Cambria" pitchFamily="18" charset="0"/>
              </a:rPr>
              <a:t>: 10.1109/ICTAI53825.2021.9673251</a:t>
            </a:r>
            <a:r>
              <a:rPr lang="en-IN" sz="1800" dirty="0" smtClean="0">
                <a:latin typeface="Cambria" pitchFamily="18" charset="0"/>
                <a:ea typeface="Cambria" pitchFamily="18" charset="0"/>
              </a:rPr>
              <a:t>.</a:t>
            </a:r>
            <a:endParaRPr lang="en-IN" sz="1800" dirty="0">
              <a:latin typeface="Cambria" pitchFamily="18" charset="0"/>
              <a:ea typeface="Cambria" pitchFamily="18" charset="0"/>
            </a:endParaRPr>
          </a:p>
          <a:p>
            <a:pPr algn="just">
              <a:spcBef>
                <a:spcPts val="0"/>
              </a:spcBef>
              <a:buNone/>
            </a:pPr>
            <a:endParaRPr lang="en-IN" sz="18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253B1-8B82-7A3E-7E6F-B195F6DF6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22</a:t>
            </a:fld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31B064D-EF57-D29A-BC29-5EBAEB632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7" y="346212"/>
            <a:ext cx="5662653" cy="845047"/>
          </a:xfrm>
        </p:spPr>
        <p:txBody>
          <a:bodyPr>
            <a:normAutofit/>
          </a:bodyPr>
          <a:lstStyle/>
          <a:p>
            <a:r>
              <a:rPr lang="en-US" sz="3600" dirty="0" smtClean="0"/>
              <a:t>References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80EEE5-A734-83EB-7226-9431923B2EA6}"/>
              </a:ext>
            </a:extLst>
          </p:cNvPr>
          <p:cNvCxnSpPr/>
          <p:nvPr/>
        </p:nvCxnSpPr>
        <p:spPr>
          <a:xfrm>
            <a:off x="524787" y="1191259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30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6AE3C-8F72-3CB5-C37A-E183BAC4C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292" y="1680187"/>
            <a:ext cx="9332445" cy="1597586"/>
          </a:xfrm>
        </p:spPr>
        <p:txBody>
          <a:bodyPr/>
          <a:lstStyle/>
          <a:p>
            <a:r>
              <a:rPr lang="en-IN" dirty="0" smtClean="0">
                <a:latin typeface="Cambria" pitchFamily="18" charset="0"/>
                <a:ea typeface="Cambria" pitchFamily="18" charset="0"/>
              </a:rPr>
              <a:t>Accepted for Publication and Presentation on </a:t>
            </a:r>
            <a:r>
              <a:rPr lang="en-IN" b="1" dirty="0">
                <a:latin typeface="Cambria" pitchFamily="18" charset="0"/>
                <a:ea typeface="Cambria" pitchFamily="18" charset="0"/>
              </a:rPr>
              <a:t>International Conference on Information and Computer Technologies</a:t>
            </a:r>
            <a:r>
              <a:rPr lang="en-IN" dirty="0">
                <a:latin typeface="Cambria" pitchFamily="18" charset="0"/>
                <a:ea typeface="Cambria" pitchFamily="18" charset="0"/>
              </a:rPr>
              <a:t> </a:t>
            </a:r>
            <a:r>
              <a:rPr lang="en-IN" dirty="0" smtClean="0">
                <a:latin typeface="Cambria" pitchFamily="18" charset="0"/>
                <a:ea typeface="Cambria" pitchFamily="18" charset="0"/>
              </a:rPr>
              <a:t>- 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(ICICT-2025)</a:t>
            </a:r>
            <a:endParaRPr lang="en-IN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A509C-0AE2-43BD-BE15-EB05D2AB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DD35B1-7DE8-2C3E-4F43-79CEA49DA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7" y="346212"/>
            <a:ext cx="8689551" cy="845047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Details of Journal Paper &amp; Conference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F0905-81BA-856D-C0E8-D96D42579B05}"/>
              </a:ext>
            </a:extLst>
          </p:cNvPr>
          <p:cNvCxnSpPr/>
          <p:nvPr/>
        </p:nvCxnSpPr>
        <p:spPr>
          <a:xfrm>
            <a:off x="524787" y="1191259"/>
            <a:ext cx="1077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38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DE59B-3DCF-E620-D8D6-5EED6EE8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9A98606-10CC-4876-811F-5AF59FAFB594}" type="slidenum">
              <a:rPr lang="en-IN" smtClean="0"/>
              <a:pPr/>
              <a:t>24</a:t>
            </a:fld>
            <a:endParaRPr lang="en-IN" dirty="0"/>
          </a:p>
        </p:txBody>
      </p:sp>
      <p:pic>
        <p:nvPicPr>
          <p:cNvPr id="8" name="Picture 2" descr="Overview Of Deep Learning Training Ppt PPT Presentati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1006"/>
            <a:ext cx="11000935" cy="643930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9878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23C5FE65-18CC-4A65-9EBC-B05E331504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1610</TotalTime>
  <Words>2081</Words>
  <Application>Microsoft Office PowerPoint</Application>
  <PresentationFormat>Widescreen</PresentationFormat>
  <Paragraphs>248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Aptos</vt:lpstr>
      <vt:lpstr>Arial</vt:lpstr>
      <vt:lpstr>Bookman Old Style</vt:lpstr>
      <vt:lpstr>Calibri</vt:lpstr>
      <vt:lpstr>Cambria</vt:lpstr>
      <vt:lpstr>Cascadia Code</vt:lpstr>
      <vt:lpstr>Century Schoolbook</vt:lpstr>
      <vt:lpstr>Gautami</vt:lpstr>
      <vt:lpstr>Times New Roman</vt:lpstr>
      <vt:lpstr>Wingdings</vt:lpstr>
      <vt:lpstr>Wingdings 2</vt:lpstr>
      <vt:lpstr>View</vt:lpstr>
      <vt:lpstr> Touchless Mouse Control via Hand Gestures Using Residual Neural Network and MediaPipe</vt:lpstr>
      <vt:lpstr>Contents</vt:lpstr>
      <vt:lpstr>Abstract</vt:lpstr>
      <vt:lpstr>Objective of project </vt:lpstr>
      <vt:lpstr>Scope of project</vt:lpstr>
      <vt:lpstr>Problem Statement </vt:lpstr>
      <vt:lpstr>Basic concepts</vt:lpstr>
      <vt:lpstr>Literature Survey </vt:lpstr>
      <vt:lpstr>Drawbacks in Existing System</vt:lpstr>
      <vt:lpstr>Proposed System </vt:lpstr>
      <vt:lpstr>Methodology</vt:lpstr>
      <vt:lpstr>PowerPoint Presentation</vt:lpstr>
      <vt:lpstr>PowerPoint Presentation</vt:lpstr>
      <vt:lpstr>PowerPoint Presentation</vt:lpstr>
      <vt:lpstr>Algorithm &amp; Libraries </vt:lpstr>
      <vt:lpstr>Dataset</vt:lpstr>
      <vt:lpstr>Implementation</vt:lpstr>
      <vt:lpstr>Operations of our Touchless mouse</vt:lpstr>
      <vt:lpstr>Results</vt:lpstr>
      <vt:lpstr>Conclusion</vt:lpstr>
      <vt:lpstr>Future Work</vt:lpstr>
      <vt:lpstr>References</vt:lpstr>
      <vt:lpstr>Details of Journal Paper &amp; Conference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Touchless Mouse Control via Hand Gestures Using ResNet and MediaPipe</dc:title>
  <dc:creator>John</dc:creator>
  <cp:lastModifiedBy>karna Bhargava</cp:lastModifiedBy>
  <cp:revision>118</cp:revision>
  <dcterms:created xsi:type="dcterms:W3CDTF">2025-01-07T14:40:58Z</dcterms:created>
  <dcterms:modified xsi:type="dcterms:W3CDTF">2025-04-17T05:54:46Z</dcterms:modified>
</cp:coreProperties>
</file>